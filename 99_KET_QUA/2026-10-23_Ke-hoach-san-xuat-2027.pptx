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5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638f4e36-a097-8bee-f800-0a8d8a5c6d1d}">
          <p14:sldIdLst>
            <p14:sldId id="256"/>
            <p14:sldId id="257"/>
          </p14:sldIdLst>
        </p14:section>
        <p14:section name="Kết quả 9 tháng 2026 và căn cứ lập kế hoạch" id="{ddb1b3e4-fa2a-c002-5380-a838a603e8e1}">
          <p14:sldIdLst>
            <p14:sldId id="258"/>
            <p14:sldId id="259"/>
            <p14:sldId id="260"/>
          </p14:sldIdLst>
        </p14:section>
        <p14:section name="Các chỉ tiêu chủ yếu năm 2027" id="{2dfdd87d-e981-82fc-67b1-354c5986ac61}">
          <p14:sldIdLst>
            <p14:sldId id="261"/>
            <p14:sldId id="262"/>
            <p14:sldId id="263"/>
            <p14:sldId id="264"/>
            <p14:sldId id="265"/>
          </p14:sldIdLst>
        </p14:section>
        <p14:section name="Kế hoạch sản lượng than" id="{20bf0dc4-1cb1-dea4-3898-170ee6d10d1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Kế hoạch đào lò, xén lò" id="{4c4a5b05-a42d-2900-c182-6a85a3ddf847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Nhận diện thách thức" id="{9c31d58e-6c6c-b6bf-72f2-9e94527038fe}">
          <p14:sldIdLst>
            <p14:sldId id="283"/>
            <p14:sldId id="284"/>
            <p14:sldId id="285"/>
          </p14:sldIdLst>
        </p14:section>
        <p14:section name="Giải pháp và tổ chức thực hiện" id="{67c7c0a4-3794-b417-6282-3779e1a1b594}">
          <p14:sldIdLst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KH QĐ 2675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72.6</c:v>
                </c:pt>
                <c:pt idx="1">
                  <c:v>69.4</c:v>
                </c:pt>
                <c:pt idx="2">
                  <c:v>68.7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KH 3374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71.2</c:v>
                </c:pt>
                <c:pt idx="1">
                  <c:v>70.7</c:v>
                </c:pt>
                <c:pt idx="2">
                  <c:v>72.3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Số ngày làm việc theo tháng năm 2027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Ngày làm việc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27</c:v>
                </c:pt>
                <c:pt idx="3">
                  <c:v>24</c:v>
                </c:pt>
                <c:pt idx="4">
                  <c:v>25</c:v>
                </c:pt>
                <c:pt idx="5">
                  <c:v>26</c:v>
                </c:pt>
                <c:pt idx="6">
                  <c:v>27</c:v>
                </c:pt>
                <c:pt idx="7">
                  <c:v>26</c:v>
                </c:pt>
                <c:pt idx="8">
                  <c:v>25</c:v>
                </c:pt>
                <c:pt idx="9">
                  <c:v>26</c:v>
                </c:pt>
                <c:pt idx="10">
                  <c:v>24</c:v>
                </c:pt>
                <c:pt idx="11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NK hầm lò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201623.6</c:v>
                </c:pt>
                <c:pt idx="1">
                  <c:v>208333.3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2022.5</c:v>
                </c:pt>
                <c:pt idx="1">
                  <c:v>2116.7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xén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5BA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572.3</c:v>
                </c:pt>
                <c:pt idx="1">
                  <c:v>625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Cơ cấu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9B2D"/>
              </a:solidFill>
              <a:effectLst/>
            </c:spPr>
          </c:dPt>
          <c:dPt>
            <c:idx val="1"/>
            <c:bubble3D val="0"/>
            <c:spPr>
              <a:solidFill>
                <a:srgbClr val="1F5C99"/>
              </a:solidFill>
              <a:effectLst/>
            </c:spPr>
          </c:dPt>
          <c:dPt>
            <c:idx val="2"/>
            <c:bubble3D val="0"/>
            <c:spPr>
              <a:solidFill>
                <a:srgbClr val="2A9D8F"/>
              </a:solidFill>
              <a:effectLst/>
            </c:spPr>
          </c:dPt>
          <c:dPt>
            <c:idx val="3"/>
            <c:bubble3D val="0"/>
            <c:spPr>
              <a:solidFill>
                <a:srgbClr val="8E5BA8"/>
              </a:solidFill>
              <a:effectLst/>
            </c:spPr>
          </c:dPt>
          <c:dPt>
            <c:idx val="4"/>
            <c:bubble3D val="0"/>
            <c:spPr>
              <a:solidFill>
                <a:srgbClr val="8C99A8"/>
              </a:solidFill>
              <a:effectLst/>
            </c:spPr>
          </c:dPt>
          <c:dPt>
            <c:idx val="5"/>
            <c:bubble3D val="0"/>
            <c:spPr>
              <a:solidFill>
                <a:srgbClr val="C7D0DA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CGH đồng bộ</c:v>
                </c:pt>
                <c:pt idx="1">
                  <c:v>Giá khung</c:v>
                </c:pt>
                <c:pt idx="2">
                  <c:v>Giá xích</c:v>
                </c:pt>
                <c:pt idx="3">
                  <c:v>Giàn ZRY</c:v>
                </c:pt>
                <c:pt idx="4">
                  <c:v>Than đào lò</c:v>
                </c:pt>
                <c:pt idx="5">
                  <c:v>Than xén lò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780000</c:v>
                </c:pt>
                <c:pt idx="1">
                  <c:v>1118900</c:v>
                </c:pt>
                <c:pt idx="2">
                  <c:v>162300</c:v>
                </c:pt>
                <c:pt idx="3">
                  <c:v>155100</c:v>
                </c:pt>
                <c:pt idx="4">
                  <c:v>273000</c:v>
                </c:pt>
                <c:pt idx="5">
                  <c:v>10700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207200</c:v>
                </c:pt>
                <c:pt idx="1">
                  <c:v>132100</c:v>
                </c:pt>
                <c:pt idx="2">
                  <c:v>211900</c:v>
                </c:pt>
                <c:pt idx="3">
                  <c:v>182800</c:v>
                </c:pt>
                <c:pt idx="4">
                  <c:v>190400</c:v>
                </c:pt>
                <c:pt idx="5">
                  <c:v>219400</c:v>
                </c:pt>
                <c:pt idx="6">
                  <c:v>175400</c:v>
                </c:pt>
                <c:pt idx="7">
                  <c:v>173200</c:v>
                </c:pt>
                <c:pt idx="8">
                  <c:v>182800</c:v>
                </c:pt>
                <c:pt idx="9">
                  <c:v>205200</c:v>
                </c:pt>
                <c:pt idx="10">
                  <c:v>169500</c:v>
                </c:pt>
                <c:pt idx="11">
                  <c:v>166400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25200</c:v>
                </c:pt>
                <c:pt idx="1">
                  <c:v>19500</c:v>
                </c:pt>
                <c:pt idx="2">
                  <c:v>27200</c:v>
                </c:pt>
                <c:pt idx="3">
                  <c:v>27900</c:v>
                </c:pt>
                <c:pt idx="4">
                  <c:v>27800</c:v>
                </c:pt>
                <c:pt idx="5">
                  <c:v>27500</c:v>
                </c:pt>
                <c:pt idx="6">
                  <c:v>28300</c:v>
                </c:pt>
                <c:pt idx="7">
                  <c:v>25600</c:v>
                </c:pt>
                <c:pt idx="8">
                  <c:v>20800</c:v>
                </c:pt>
                <c:pt idx="9">
                  <c:v>18700</c:v>
                </c:pt>
                <c:pt idx="10">
                  <c:v>18000</c:v>
                </c:pt>
                <c:pt idx="11">
                  <c:v>17100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551200</c:v>
                </c:pt>
                <c:pt idx="1">
                  <c:v>592600</c:v>
                </c:pt>
                <c:pt idx="2">
                  <c:v>531400</c:v>
                </c:pt>
                <c:pt idx="3">
                  <c:v>541100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71900</c:v>
                </c:pt>
                <c:pt idx="1">
                  <c:v>83300</c:v>
                </c:pt>
                <c:pt idx="2">
                  <c:v>74700</c:v>
                </c:pt>
                <c:pt idx="3">
                  <c:v>53800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Sản lượng 2027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Than 3</c:v>
                  </c:pt>
                  <c:pt idx="1">
                    <c:v>Than 5</c:v>
                  </c:pt>
                  <c:pt idx="2">
                    <c:v>Than 2</c:v>
                  </c:pt>
                  <c:pt idx="3">
                    <c:v>Than 11</c:v>
                  </c:pt>
                  <c:pt idx="4">
                    <c:v>Than 6</c:v>
                  </c:pt>
                  <c:pt idx="5">
                    <c:v>Than 9</c:v>
                  </c:pt>
                  <c:pt idx="6">
                    <c:v>Than 1</c:v>
                  </c:pt>
                  <c:pt idx="7">
                    <c:v>Than 8</c:v>
                  </c:pt>
                  <c:pt idx="8">
                    <c:v>Than 10</c:v>
                  </c:pt>
                  <c:pt idx="9">
                    <c:v>CGH2</c:v>
                  </c:pt>
                  <c:pt idx="10">
                    <c:v>CGH1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125100</c:v>
                </c:pt>
                <c:pt idx="1">
                  <c:v>130400</c:v>
                </c:pt>
                <c:pt idx="2">
                  <c:v>165000</c:v>
                </c:pt>
                <c:pt idx="3">
                  <c:v>172200</c:v>
                </c:pt>
                <c:pt idx="4">
                  <c:v>176300</c:v>
                </c:pt>
                <c:pt idx="5">
                  <c:v>176400</c:v>
                </c:pt>
                <c:pt idx="6">
                  <c:v>179000</c:v>
                </c:pt>
                <c:pt idx="7">
                  <c:v>181800</c:v>
                </c:pt>
                <c:pt idx="8">
                  <c:v>183100</c:v>
                </c:pt>
                <c:pt idx="9">
                  <c:v>346100</c:v>
                </c:pt>
                <c:pt idx="10">
                  <c:v>434600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tính chất đất đá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Tính chất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99"/>
              </a:solidFill>
              <a:effectLst/>
            </c:spPr>
          </c:dPt>
          <c:dPt>
            <c:idx val="1"/>
            <c:bubble3D val="0"/>
            <c:spPr>
              <a:solidFill>
                <a:srgbClr val="8C99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Lò than</c:v>
                </c:pt>
                <c:pt idx="1">
                  <c:v>Lò đá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16979</c:v>
                </c:pt>
                <c:pt idx="1">
                  <c:v>8421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vật liệu chống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Vật liệu chống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9D8F"/>
              </a:solidFill>
              <a:effectLst/>
            </c:spPr>
          </c:dPt>
          <c:dPt>
            <c:idx val="1"/>
            <c:bubble3D val="0"/>
            <c:spPr>
              <a:solidFill>
                <a:srgbClr val="E39B2D"/>
              </a:solidFill>
              <a:effectLst/>
            </c:spPr>
          </c:dPt>
          <c:dPt>
            <c:idx val="2"/>
            <c:bubble3D val="0"/>
            <c:spPr>
              <a:solidFill>
                <a:srgbClr val="8E5B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Chống sắt</c:v>
                </c:pt>
                <c:pt idx="1">
                  <c:v>Chống neo</c:v>
                </c:pt>
                <c:pt idx="2">
                  <c:v>Chống gỗ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22692</c:v>
                </c:pt>
                <c:pt idx="1">
                  <c:v>1756</c:v>
                </c:pt>
                <c:pt idx="2">
                  <c:v>952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2400</c:v>
                </c:pt>
                <c:pt idx="1">
                  <c:v>1730</c:v>
                </c:pt>
                <c:pt idx="2">
                  <c:v>2330</c:v>
                </c:pt>
                <c:pt idx="3">
                  <c:v>2450</c:v>
                </c:pt>
                <c:pt idx="4">
                  <c:v>2400</c:v>
                </c:pt>
                <c:pt idx="5">
                  <c:v>2400</c:v>
                </c:pt>
                <c:pt idx="6">
                  <c:v>2400</c:v>
                </c:pt>
                <c:pt idx="7">
                  <c:v>2300</c:v>
                </c:pt>
                <c:pt idx="8">
                  <c:v>1993</c:v>
                </c:pt>
                <c:pt idx="9">
                  <c:v>1735</c:v>
                </c:pt>
                <c:pt idx="10">
                  <c:v>1695</c:v>
                </c:pt>
                <c:pt idx="11">
                  <c:v>1567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Lò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550</c:v>
                </c:pt>
                <c:pt idx="1">
                  <c:v>1965</c:v>
                </c:pt>
                <c:pt idx="2">
                  <c:v>1635</c:v>
                </c:pt>
                <c:pt idx="3">
                  <c:v>2002</c:v>
                </c:pt>
                <c:pt idx="4">
                  <c:v>1743</c:v>
                </c:pt>
                <c:pt idx="5">
                  <c:v>2350</c:v>
                </c:pt>
                <c:pt idx="6">
                  <c:v>125</c:v>
                </c:pt>
                <c:pt idx="7">
                  <c:v>2250</c:v>
                </c:pt>
                <c:pt idx="8">
                  <c:v>4359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Lò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1216</c:v>
                </c:pt>
                <c:pt idx="1">
                  <c:v>260</c:v>
                </c:pt>
                <c:pt idx="2">
                  <c:v>638</c:v>
                </c:pt>
                <c:pt idx="3">
                  <c:v>360</c:v>
                </c:pt>
                <c:pt idx="4">
                  <c:v>668</c:v>
                </c:pt>
                <c:pt idx="5">
                  <c:v>535</c:v>
                </c:pt>
                <c:pt idx="6">
                  <c:v>2875</c:v>
                </c:pt>
                <c:pt idx="7">
                  <c:v>1250</c:v>
                </c:pt>
                <c:pt idx="8">
                  <c:v>619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Xén trong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150</c:v>
                </c:pt>
                <c:pt idx="2">
                  <c:v>70</c:v>
                </c:pt>
                <c:pt idx="3">
                  <c:v>120</c:v>
                </c:pt>
                <c:pt idx="4">
                  <c:v>0</c:v>
                </c:pt>
                <c:pt idx="5">
                  <c:v>0</c:v>
                </c:pt>
                <c:pt idx="6">
                  <c:v>240</c:v>
                </c:pt>
                <c:pt idx="7">
                  <c:v>1263</c:v>
                </c:pt>
                <c:pt idx="8">
                  <c:v>1566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Xén trong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128</c:v>
                </c:pt>
                <c:pt idx="1">
                  <c:v>50</c:v>
                </c:pt>
                <c:pt idx="2">
                  <c:v>290</c:v>
                </c:pt>
                <c:pt idx="3">
                  <c:v>240</c:v>
                </c:pt>
                <c:pt idx="4">
                  <c:v>385</c:v>
                </c:pt>
                <c:pt idx="5">
                  <c:v>435</c:v>
                </c:pt>
                <c:pt idx="6">
                  <c:v>260</c:v>
                </c:pt>
                <c:pt idx="7">
                  <c:v>997</c:v>
                </c:pt>
                <c:pt idx="8">
                  <c:v>1301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Mức tăng BQ tháng (%)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Than 5</c:v>
                  </c:pt>
                  <c:pt idx="1">
                    <c:v>Than 8</c:v>
                  </c:pt>
                  <c:pt idx="2">
                    <c:v>Than 3</c:v>
                  </c:pt>
                  <c:pt idx="3">
                    <c:v>CGH1</c:v>
                  </c:pt>
                  <c:pt idx="4">
                    <c:v>Than 6</c:v>
                  </c:pt>
                  <c:pt idx="5">
                    <c:v>Than 10</c:v>
                  </c:pt>
                  <c:pt idx="6">
                    <c:v>Than 2</c:v>
                  </c:pt>
                  <c:pt idx="7">
                    <c:v>CGH2</c:v>
                  </c:pt>
                  <c:pt idx="8">
                    <c:v>Than 1</c:v>
                  </c:pt>
                  <c:pt idx="9">
                    <c:v>Than 9</c:v>
                  </c:pt>
                  <c:pt idx="10">
                    <c:v>Than 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-20</c:v>
                </c:pt>
                <c:pt idx="1">
                  <c:v>-17.8</c:v>
                </c:pt>
                <c:pt idx="2">
                  <c:v>-10.5</c:v>
                </c:pt>
                <c:pt idx="3">
                  <c:v>-9.9</c:v>
                </c:pt>
                <c:pt idx="4">
                  <c:v>-9.8</c:v>
                </c:pt>
                <c:pt idx="5">
                  <c:v>-6.2</c:v>
                </c:pt>
                <c:pt idx="6">
                  <c:v>-0.9</c:v>
                </c:pt>
                <c:pt idx="7">
                  <c:v>22.4</c:v>
                </c:pt>
                <c:pt idx="8">
                  <c:v>31.5</c:v>
                </c:pt>
                <c:pt idx="9">
                  <c:v>49.5</c:v>
                </c:pt>
                <c:pt idx="10">
                  <c:v>59.7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Bìa. Nguồn: file KH_CÔNG TRƯỜNG-PX_2027 (16/10/2026), sheet 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B1.BC_TKV_T9-2026 (chốt 13/10/2026), sheet TKV cộng tháng 1-9; KH năm theo QĐ 2675/QĐ-TKV và 3374/KH-TKV (sheet PHU_LUC cột E, F). Tỷ lệ = TH 9T / KH năm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file KH_CÔNG TRƯỜNG-PX_2027 ngày 16/10/2026: sheet BIA, TONG_HOP, KH_LC (dòng 17 số ngày làm việc), KH_ĐL, TH_PX2027.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 cột D (D6, D17, D54, D73, D26, D7). Hệ số mét lò = 25.400 / 2.500.000 x 1000 = 10,16.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TONG_HOP, cột D. Tỷ trọng = chỉ tiêu con / chỉ tiêu tổng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 2026 theo QĐ 2675/QĐ-TKV (file B1.BC_TKV_T9-2026, sheet PHU_LUC cột E). KH 2027: sheet TONG_HOP. Chênh lệch % = (KH2027/KH2026 - 1) x 100. KH 2026 than xén gồm cả than hạ nền.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BQ tháng KH 2027 = KH năm / 12. BQ tháng TH 2026 = TH 9 tháng / 9 (sheet TKV file B1.BC_TKV_T9-2026). Mức tăng = (BQ2027/BQ2026 - 1)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(D8-D14), TH_G.KHOAN (D19, D22, D28, D31; K28, L28). Tỷ trọng = thành phần / 2.500.000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 (cột T1..T12). Tổng 12 tháng dòng 19 = 2.499.900 tấn, lệch 100 tấn so với KH năm (than đào xén tháng cộng 283.600 so với 283.700) - cần rà soát.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 cột QI..QIV. Lưu ý: sheet TH_PX2027 ghi quý I 623.000, quý II 676.300, quý IV 594.300 (tổng 2.499.700) - khác KH_LC; cần thống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TH_PX2027 cột D (sản lượng), E (than lò chợ), F+G (than đào, xén). Sắp xếp giảm dần.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(D, E, F, G), TH_G.KHOAN dòng 19-31 (công nghệ), KH_LC (số lò chợ). TH 9T/2026: sheet TKV dòng 185 file B1.BC_TKV_T9-2026.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 (SL 2027), W (SL còn lại), T1..T12. Không tính diện dự phòng N-6a-1.1, 1.2, 1.3 của PX KT5.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V, W, T1..T12. Tổng 37 lò chợ = 2.216.300 tấn, khớp sheet TONG_HOP D7.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DIEN_DP (lịch quý các lò chợ CGH), KH_LC (thông số lò chợ), TH_G.KHOAN D28, D31. CGH dốc LC TT-11-10B (PX KT3) khai thác tháng 12/2027.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DIEN_DP (cột C trữ lượng, D huy động 2027, E còn lại chuyển 2028).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D17-D28. Tỷ trọng = thành phần / 25.400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 dòng 14 (ĐL CBSX) cột T1..T12 và QI..QIV. Tổng 12 tháng =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cột I (mét đào), TH_G.KHOAN dòng 37 (lò than), 68 (lò đá).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(cột D, F, G, I, J); TH_G.KHOAN dòng 37, 68, 122, 123. TH 9T/2026: sheet TKV dòng 156 (mét lò đào theo PX).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KH_ĐL, các đường lò thuộc mục "ĐL CBSX" sắp xếp theo khối lượng năm (cột I, J, K, G, D). 162 đường lò, tổng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D54-D60; TH_PX2027 cột J; TH_G.KHOAN dòng 122-123. Tổng mét xén theo quý trong TH_PX2027 = 7.425 m, theo tháng trong KH_ĐL = 7.265 m - chưa khớp KH năm 7.500 m, cần rà soát nên slide chỉ thể hiện số năm.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 số liệu: TH 9T/2026 (sheet TKV, PHU_LUC file B1.BC_TKV_T9-2026); KH 2027 (TONG_HOP, KH_LC, KH_ĐL). ZRY 2026: 82.283,39 tấn/9 tháng; EBH 2026: 459,9 m/9 tháng, không có KL từ tháng 6; neo 2026: 861,6 m/9 tháng.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Tăng (%) = (KH 2027/12) / (TH 9T 2026/9) - 1. KH: TH_PX2027 cột D; TH 9T/2026: sheet TKV dòng 185 (file B1.BC_TKV_T9-2026).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Phân công đề xuất, cần Giám đốc Công ty quyết định tại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kết thúc.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Công ty than Dương Huy - TKV  |  Kế hoạch sản xuất năm 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XUẤT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Công ty than Dương Huy - TKV  ·  Phòng Kỹ thuật công nghệ mỏ (KCM)</a:t>
            </a:r>
            <a:endParaRPr lang="en-US" sz="1800" dirty="0"/>
          </a:p>
        </p:txBody>
      </p:sp>
      <p:sp>
        <p:nvSpPr>
          <p:cNvPr id="5" name="logo-dot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FC0D3"/>
                </a:solidFill>
              </a:rPr>
              <a:t>Hội nghị triển khai kế hoạch sản xuất năm 2027  ·  Quảng Ninh,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báo cáo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Kết quả 9 tháng 2026 và căn cứ lập kế hoạch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Các chỉ tiêu chủ yếu năm 2027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lượng than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đào lò, xén lò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4617720"/>
            <a:ext cx="640080" cy="64008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Nhận diện thách thức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61772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Giải pháp và tổ chức thực hiện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 và căn cứ lập kế hoạch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Điểm xuất phát của kế hoạch năm 2027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2026: cả 3 chỉ tiêu chính dưới tiến độ 75%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NK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1.814.612,8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72,6% KH QĐ 2675  ·  71,2%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201.623,6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18.202,4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69,4% KH QĐ 2675  ·  70,7%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2.022,5 m/tháng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5.150,7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68,7% KH QĐ 2675  ·  72,3%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572,3 m/tháng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474720"/>
          <a:ext cx="7498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6"/>
          <p:cNvSpPr/>
          <p:nvPr/>
        </p:nvSpPr>
        <p:spPr>
          <a:xfrm>
            <a:off x="8321040" y="3474720"/>
            <a:ext cx="3291840" cy="2514600"/>
          </a:xfrm>
          <a:prstGeom prst="roundRect">
            <a:avLst>
              <a:gd name="adj" fmla="val 2909"/>
            </a:avLst>
          </a:prstGeom>
          <a:solidFill>
            <a:srgbClr val="FDF3E3"/>
          </a:solidFill>
          <a:ln w="9525">
            <a:solidFill>
              <a:srgbClr val="F2D3A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54964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Tiến độ thời gian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549640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75,0%</a:t>
            </a:r>
            <a:endParaRPr lang="en-US" sz="4000" dirty="0"/>
          </a:p>
        </p:txBody>
      </p:sp>
      <p:sp>
        <p:nvSpPr>
          <p:cNvPr id="23" name="Text 19"/>
          <p:cNvSpPr txBox="1"/>
          <p:nvPr/>
        </p:nvSpPr>
        <p:spPr>
          <a:xfrm>
            <a:off x="8549640" y="4754880"/>
            <a:ext cx="29260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So với mức 75% KH năm (QĐ 2675): sản lượng còn thiếu 60.387,2 tấn; mét lò đào thiếu 1.470,1 m.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Tổng hợp KLM 9 tháng 2026 (chốt 13/10/2026); KH theo QĐ 2675/QĐ-TKV và 3374/KH-TKV.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Căn cứ và phạm vi lập kế hoạch năm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40080" y="1389888"/>
            <a:ext cx="548640" cy="54864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xuất năm 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64208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Dự thảo của Phòng KCM (16/10/2026), ban hành kèm Quyết định của Công ty sau khi thông qua.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450592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Thời gian làm việc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8346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293 ngày làm việc trong năm; thấp nhất tháng 2 (16 ngày), cao nhất tháng 3 và tháng 7 (27 ngày).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30752"/>
            <a:ext cx="548640" cy="54864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730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621024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Diện khai thác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05072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37 lò chợ thuộc 11 phân xưởng khai thác; 12 lò chợ chuyển tiếp sang năm 2028.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901184"/>
            <a:ext cx="548640" cy="5486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" y="4901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791456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Đào, xén lò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5175504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162 đường lò đào CBSX; 6 phân xưởng đào lò, Công ty XLM và đơn vị thuê ngoài TKV tham gia.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406640" y="1280160"/>
          <a:ext cx="4206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 (16/10/2026), sheet BIA, KH_LC,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chỉ tiêu chủ yếu năm 2027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Sản lượng, mét lò và chỉ tiêu công nghệ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2027: 2,5 triệu tấn than và 25.400 m lò đào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nguyên khai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2.500.000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208.333,3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25.400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8.421 m  ·  Than 16.979 m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4.086 m  ·  Than 3.414 m</a:t>
            </a:r>
            <a:endParaRPr lang="en-US" sz="1200" dirty="0"/>
          </a:p>
        </p:txBody>
      </p:sp>
      <p:sp>
        <p:nvSpPr>
          <p:cNvPr id="19" name="kpi-card"/>
          <p:cNvSpPr/>
          <p:nvPr/>
        </p:nvSpPr>
        <p:spPr>
          <a:xfrm>
            <a:off x="54864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86791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lò chợ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2.216.300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88,7% tổng sản lượng · 37 lò chợ</a:t>
            </a:r>
            <a:endParaRPr lang="en-US" sz="1200" dirty="0"/>
          </a:p>
        </p:txBody>
      </p:sp>
      <p:sp>
        <p:nvSpPr>
          <p:cNvPr id="24" name="kpi-card"/>
          <p:cNvSpPr/>
          <p:nvPr/>
        </p:nvSpPr>
        <p:spPr>
          <a:xfrm>
            <a:off x="429768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26280" y="3867912"/>
            <a:ext cx="201168" cy="201168"/>
          </a:xfrm>
          <a:prstGeom prst="ellipse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060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Hệ số mét lò CBSX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m/1000 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KH 2026 (QĐ 2675): 10,49</a:t>
            </a:r>
            <a:endParaRPr lang="en-US" sz="1200" dirty="0"/>
          </a:p>
        </p:txBody>
      </p:sp>
      <p:sp>
        <p:nvSpPr>
          <p:cNvPr id="29" name="kpi-card"/>
          <p:cNvSpPr/>
          <p:nvPr/>
        </p:nvSpPr>
        <p:spPr>
          <a:xfrm>
            <a:off x="804672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75320" y="386791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964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chống neo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1.756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6,9% tổng mét lò đào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(Phụ lục 1: các chỉ tiêu KTCN chủ yếu).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Bảng các chỉ tiêu kinh tế - kỹ thuật chủ yếu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486400"/>
                <a:gridCol w="1280160"/>
                <a:gridCol w="23774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Tỷ trọng (%)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Than nguyên khai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88,7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máy khấu (CGH)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giá khung,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lò,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11,3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đá  (Sđ bq 16,96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than  (Sđ bq 13,21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Đào CGH đồng bộ (combai) /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 / 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Chống sắt / neo /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 / 1.756 / 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xén (tự làm / thuê ngoài)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7.500  (4.633 / 2.867)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Hệ số mét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m/1000 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10,16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Thể trọng than NK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tấn/m³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1,623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kế hoạch 2026: giữ sản lượng, tăng CGH, giảm mét lò đào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066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Chênh lệch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NK hầm lò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CGH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732.000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+48.000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+6,6%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GK, GX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1.269.200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+12.000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+0,9%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ZRY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167.000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-11.900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-7,1%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DVPT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-100,0%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302.680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-29.680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đào CBSX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26.230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-3,2%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đá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8.510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than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17.720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-741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-4,2%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xén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chống neo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+75,6%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+25,0%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412480" y="1371600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Sản lượng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16459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Giữ 2.500.000 tấn; than lò chợ tăng 33.100 tấn (+1,5%), than đào lò giảm 29.680 tấn.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229600" y="27889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412480" y="2971800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Công nghệ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2461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CGH tăng 48.000 tấn (+6,6%); không còn lò chợ DVPT; ZRY giảm 11.900 tấn.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43891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4572000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Đào lò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8463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Giảm 830 m (-3,2%); chống neo tăng 756 m; hệ số mét lò 10,16 (KH 2026: 10,49).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2026: QĐ 2675/QĐ-TKV; KH 2027: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Nhịp sản xuất bình quân tháng phải cao hơn 9 tháng 2026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Than NK hầm lò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5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+3,3%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8580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429768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đào CBSX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+4,7%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443484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9"/>
          <p:cNvSpPr/>
          <p:nvPr/>
        </p:nvSpPr>
        <p:spPr>
          <a:xfrm>
            <a:off x="804672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532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xén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E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+9,2%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818388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TH 9T/2026: tổng hợp KLM chốt 13/10/2026; KH 2027: sheet TONG_HOP. Đơn vị: than tấn/tháng, mét lò m/tháng.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lượng than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2.500.000 tấn  ·  37 lò chợ  ·  11 phân xưởng khai thác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sản lượng: lò chợ chiếm 88,7%, CGH chiếm 31,2%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120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2103120" y="269748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</a:rPr>
              <a:t>triệu tấn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5669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Nguồn sản lượng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Lò chợ CGH đồng bộ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trung (PX CGH1)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nhẹ (PX CGH2)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dốc (PX KT3)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khung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1.118.900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44,8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Tổng cộng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tháng: cao nhất tháng 6, thấp nhất tháng 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8595360" y="11887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82396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9828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Cao nhất: tháng 6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823960" y="17830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246.900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23774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26 ngày làm việc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595360" y="27889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82396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09828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Thấp nhất: tháng 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151.600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23960" y="39776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16 ngày làm việc (nghỉ Tết)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595360" y="438912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82396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098280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Bình quân ngày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49834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8.532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823960" y="55778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Dao động 7.544 – 9.496 tấn/ngày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(lịch thực hiện theo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quý: tập trung cao nhất quý II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685800"/>
                <a:gridCol w="1005840"/>
                <a:gridCol w="594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Lũy kế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lũy kế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675.900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27,0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1.299.000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606.100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1.905.100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594.900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498080" y="4023360"/>
            <a:ext cx="4114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Mục tiêu điều hành: hết quý II đạt 52,0% KH năm (1.299.000 tấn).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giao 11 phân xưởng khai thác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40080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132320" y="11887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36092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352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360920" y="17830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3774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90,8% sản lượng Công ty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132320" y="27889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36092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3524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PX CGH1 +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33832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780.700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9776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31,2% sản lượng Công ty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132320" y="4389120"/>
            <a:ext cx="44805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635240" y="45720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đào lò của PX đào lò, XLM, thuê ngoài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49834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5577840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9,2% sản lượng Công ty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sản lượng và công nghệ theo phân xưởng khai thác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80160"/>
                <a:gridCol w="1143000"/>
                <a:gridCol w="1143000"/>
                <a:gridCol w="1005840"/>
                <a:gridCol w="731520"/>
                <a:gridCol w="2057400"/>
                <a:gridCol w="1143000"/>
                <a:gridCol w="123444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KH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Đào, xén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Số 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KH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TH 9T/2026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14.917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11.344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+31,5%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165.000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13.750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13.868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-0,9%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125.100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115.400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khung, CGH dốc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10.425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11.646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-10,5%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181.800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15.150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18.429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-17,8%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130.400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128.000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10.867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13.589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-20,0%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14.692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16.283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28.842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23.563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+22,4%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36.217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40.202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9.833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+49,5%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178.600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4.500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15.258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16.272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-6,2%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172.200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168.300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14.350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8.987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+59,7%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189.167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184.016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+2,8%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TH_G.KHOAN, KH_LC;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(1/2)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N-8-3/V8-KN(D2)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58.700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N-6-5.1/V6KN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N-6-5/V6KN(GD2)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dốc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N-6-10.1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ĐB-14-4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87.800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88.000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N-6-8B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ĐB-12-3A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(2/2)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TT9-10V9KTT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114.800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TT9-11/V9KTT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TT9-12B/V9KTT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10,7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39,0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38,2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37,8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TT-5-4A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TT-6-5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74.100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125.600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TT-8-3C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GD1)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56.800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98.300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Lò chợ CGH: 780.000 tấn, 31,2% sản lượng Công ty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731520"/>
                <a:gridCol w="731520"/>
                <a:gridCol w="1371600"/>
                <a:gridCol w="1097280"/>
                <a:gridCol w="10972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Lc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mv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Chuyển 2028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88.300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101.400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2,55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192.100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202.200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175.000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210.700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211.100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trung - PX CGH1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TT-12-6, TT-8-13, TT-8-17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429768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2628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0060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nhẹ -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TT-9-8A, TT-9-9, TT-10-16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046720" y="45720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482803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54964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dốc - PX KT3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5166360"/>
            <a:ext cx="3200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760720"/>
            <a:ext cx="320040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Lò chợ TT-11-10B, tháng 12/2027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Diện CGH dự phòng và trữ lượng chuyển tiếp sang năm 2028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  <a:gridCol w="1325880"/>
                <a:gridCol w="123444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Nhóm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Trữ lượng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Huy động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Ghi chú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249.000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TT-9-12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TT-5-5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144.300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ĐB-14-6A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TT-8-20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8412480" y="118872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641080" y="14447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CGH1 chuyển 2028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178308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1.145.300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4108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430.000 tấn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412480" y="283464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641080" y="309067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91540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CGH2 chuyển 2028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641080" y="342900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1.011.600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402336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340.000 tấn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412480" y="448056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41080" y="473659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915400" y="466344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Chuyển tiếp sang 2028 (tất cả công nghệ)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507492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lò chợ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641080" y="5669280"/>
            <a:ext cx="283464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Sản lượng còn lại 818.600 tấn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DIEN_DP và KH_LC (cột W).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đào lò, xén lò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25.400 m lò đào CBSX  ·  7.500 m lò xén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mét lò đào: 66,8% lò than, 89,3% chống sắt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280160"/>
          <a:ext cx="3474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than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đá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sắt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89,3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neo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1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Tiết diện bình quân: lò đá 16,96 m², lò than 13,21 m².</a:t>
            </a:r>
            <a:endParaRPr lang="en-US" sz="14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tháng: giảm mạnh trong quý IV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280160"/>
          <a:ext cx="3017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6.460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7.250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6.693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4.997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19,7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8595360" y="393192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Quý IV chỉ 4.997 m (19,7% năm), thấp nhất trong năm: cần chủ động chuẩn bị diện cho năm 2028.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đơn vị: 6 PX đào lò đảm nhận 54,8%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6 phân xưởng đào lò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13.922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54,8% tổng mét lò đào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Cty XLM + thuê ngoài TKV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25,6% · XLM 3.000 m, TN 3.500 m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 tự đào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4.978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19,6% tổng mét lò đào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đào, xén lò theo phân xưởng đào lò và đơn vị ngoài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51560"/>
                <a:gridCol w="1051560"/>
                <a:gridCol w="1097280"/>
                <a:gridCol w="1371600"/>
                <a:gridCol w="1280160"/>
                <a:gridCol w="14173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đào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xén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đào, xén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KH 2027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TH 9T/2026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45.700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240,4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132,4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+81,6%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1.766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147,2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108,6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2.411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668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1.743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32.400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+37,4%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185,4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160,7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+15,4%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2.273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638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1.635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214,0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-11,5%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2.362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2.002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196,8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+23,5%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250,0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291,7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20.422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7.802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12.620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5.240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230.000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</a:rPr>
              <a:t>TH 9T/2026 của Cty XLM và thuê ngoài theo mã đơn vị khác (HL1, PTH, QN, VN) nên không so sánh trực tiếp.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đường lò đào trọng điểm năm 2027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4754880"/>
                <a:gridCol w="822960"/>
                <a:gridCol w="82296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Sđ (m²)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Chống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N-7-7/V7-KN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đặt ray -250 khu N.I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TT-4-1 (EBH)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TT-9-5A/V9-KTT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XV mức -250 khu ĐB.II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TT-7-4/V7-KTT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Thượng TG mức -250/-100/V7-KTT.IV (Hạ)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N-6-13/V6-KN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TT-7-6/V7-KTT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431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BX+ DVVT chợ N-8-4A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 12 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2.354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4.197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6.551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 12 đường lò chiếm 25,8% tổng mét lò đào.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xén: 7.500 m, thuê ngoài đảm nhận 38,2%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Thuê ngoài TKV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2.867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38,2% tổng mét lò xén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Tự làm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4.633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61,8% tổng mét lò xén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8C99A8"/>
          </a:solidFill>
          <a:ln w="12700">
            <a:solidFill>
              <a:srgbClr val="8C99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Xén trong đá / trong than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4.086 / 3.414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54,5% / 45,5%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TONG_HOP, TH_PX2027,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thách thức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Những điểm cần tập trung điều hành từ số liệu kế hoạch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Những thách thức chính khi thực hiện kế hoạch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17320"/>
            <a:ext cx="457200" cy="45720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Nhịp sản xuất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BQ tháng 2027 phải tăng +3,3% (than), +4,7% (mét đào), +9,2% (mét xén) so với BQ 9T/2026.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1417320"/>
            <a:ext cx="457200" cy="45720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Lò chợ giàn ZRY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12.925 tấn/tháng, cao hơn BQ 9T/2026 (9.143 tấn/tháng) +41,4%; 8 lò chợ ZRY phân tán ở PX KT3, KT5.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01752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cơ giới hóa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combai 1.500 m, chống neo 1.756 m; 9T/2026 chỉ đạt 459,9 m combai và 861,6 m chống neo.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7220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017520"/>
            <a:ext cx="457200" cy="45720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diện, chuẩn bị diện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37 lò chợ, nhiều diện kết thúc và chuyển diện trong năm; 12 lò chợ chuyển tiếp 2028 (818.600 tấn).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5B6B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quý IV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Quý IV chỉ 4.997 m (19,7% năm) trong khi phải chuẩn bị diện cho năm 2028.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17220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61772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Phụ thuộc thuê ngoài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Thuê ngoài TKV và Cty XLM đảm nhận 6.500 m đào (25,6%) và 2.867 m xén (38,2%).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sản lượng BQ tháng theo phân xưởng so với 9T/2026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4980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58200" y="1325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Cần ưu tiên kiểm soát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458200" y="182880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11: +59,7%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9: +49,5%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1: +31,5%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474720"/>
            <a:ext cx="3017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Các phân xưởng này cần được bảo đảm diện khai thác, thiết bị, lao động và kiểm tra tiến độ hàng tuần ngay từ quý I.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và tổ chức thực hiện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Đề xuất của Phòng KCM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kỹ thuật - công nghệ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Khai thác lò chợ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Duy trì 6 lò chợ CGH đạt 780.000 tấn; đưa lò chợ CGH dốc TT-11-10B vào khai thác đúng tháng 12/2027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Hoàn thiện hộ chiếu, phương án kỹ thuật các lò chợ mới trước khi chuyển diện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Kiểm soát độ tro: khai thác chọn lọc, hạn chế lẫn đá vách, trụ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Tăng tỷ lệ chống neo (1.756 m), đào combai (1.500 m), bán CGH (1.600 m)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Ưu tiên các đường lò chuẩn bị diện thay thế và diện năm 2028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Bảo đảm tiến độ 12 đường lò trọng điểm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An toàn - kỹ thuật mỏ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Thông gió, kiểm soát khí mỏ theo từng diện mới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Thoát nước, phòng chống ngập mùa mưa bão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Phòng ngừa than tự cháy tại các lò chợ kết thúc, tháo thu hồi thiết bị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tổ chức sản xuất và điều hành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Giao kế hoạch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kế hoạch quý, tháng chi tiết đến từng phân xưởng, từng lò chợ, đường lò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Phân bổ đủ ngày công cho tháng 2 và các tháng cao điểm quý II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Lập lịch chuyển diện cho 37 lò chợ, chuẩn bị thiết bị, vật tư trước tối thiểu 1 tháng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Bố trí diện dự phòng (N-6a-1.1, 1.2, 1.3 PX KT5; diện CGH dự phòng)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Kiểm tra, đánh giá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ban tuần đánh giá sản lượng, mét lò theo từng phân xưởng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Đánh giá tháng, điều chỉnh kịp thời khi có biến động điều kiện địa chất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công tổ chức thực hiện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Nhiệm vụ chính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KCM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Lập, giao kế hoạch tháng/quý; thiết kế, hộ chiếu kỹ thuật; theo dõi, tổng hợp khối lượng mỏ; thông gió, khí mỏ, thoát nước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Điều khiển sản xuất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Điều hành sản xuất hàng ngày; phối hợp vận tải, cung ứng giữa các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Cơ điện - Vận tải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thiết bị CGH, combai, máy xúc, băng tải; lắp đặt, tháo chuyển thiết bị khi chuyển diện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Vật tư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Cung ứng vì chống, neo, giàn chống, vật tư nổ mìn đúng tiến độ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An toàn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Kiểm tra an toàn diện khai thác, đào lò; giám sát phòng chống mưa bão, ngập lò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11 PX khai thác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Thực hiện sản lượng giao; đào, xén lò trong phạm vi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6 PX đào lò, XLM, thuê ngoài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tiến độ đường lò chuẩn bị diện, đặc biệt 12 đường lò trọng điểm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Tên và nhiệm vụ các phòng là đề xuất, đề nghị điều chỉnh theo quy chế phân công của Công ty.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Quyết tâm hoàn thành kế hoạch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2.500.000 tấn than  ·  25.400 m lò đào  ·  7.500 m lò xén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trân trọng cảm ơn!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ongHuy KH2027">
  <a:themeElements>
    <a:clrScheme name="DuongHuy KH2027">
      <a:dk1>
        <a:srgbClr val="1B2533"/>
      </a:dk1>
      <a:lt1>
        <a:srgbClr val="FFFFFF"/>
      </a:lt1>
      <a:dk2>
        <a:srgbClr val="14213D"/>
      </a:dk2>
      <a:lt2>
        <a:srgbClr val="EEF2F6"/>
      </a:lt2>
      <a:accent1>
        <a:srgbClr val="1F5C99"/>
      </a:accent1>
      <a:accent2>
        <a:srgbClr val="2A9D8F"/>
      </a:accent2>
      <a:accent3>
        <a:srgbClr val="8E5BA8"/>
      </a:accent3>
      <a:accent4>
        <a:srgbClr val="E39B2D"/>
      </a:accent4>
      <a:accent5>
        <a:srgbClr val="5B6B7F"/>
      </a:accent5>
      <a:accent6>
        <a:srgbClr val="C0392B"/>
      </a:accent6>
      <a:hlink>
        <a:srgbClr val="1F5C99"/>
      </a:hlink>
      <a:folHlink>
        <a:srgbClr val="8E5BA8"/>
      </a:folHlink>
    </a:clrScheme>
    <a:fontScheme name="DuongHuy KH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Công ty than Dương Huy - TKV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sản xuất năm 2027</dc:title>
  <dc:subject>PptxGenJS Presentation</dc:subject>
  <dc:creator>Phòng KCM</dc:creator>
  <cp:lastModifiedBy>Phòng KCM</cp:lastModifiedBy>
  <cp:revision>1</cp:revision>
  <dcterms:created xsi:type="dcterms:W3CDTF">2026-10-23T04:56:33Z</dcterms:created>
  <dcterms:modified xsi:type="dcterms:W3CDTF">2026-10-23T04:56:33Z</dcterms:modified>
</cp:coreProperties>
</file>