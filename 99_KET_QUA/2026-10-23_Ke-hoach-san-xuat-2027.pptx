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0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3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4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6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cff37e32-d943-c7b9-30a3-164878082612}">
          <p14:sldIdLst>
            <p14:sldId id="256"/>
            <p14:sldId id="257"/>
          </p14:sldIdLst>
        </p14:section>
        <p14:section name="Kết quả 9 tháng 2026 và căn cứ lập kế hoạch" id="{df2fdc19-221e-8314-c58f-7f48064a63d2}">
          <p14:sldIdLst>
            <p14:sldId id="258"/>
            <p14:sldId id="259"/>
            <p14:sldId id="260"/>
          </p14:sldIdLst>
        </p14:section>
        <p14:section name="Các chỉ tiêu chủ yếu năm 2027" id="{aeca0763-2e13-9662-3b09-74e306f0344e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Kế hoạch sản lượng than" id="{a8f16f48-9bf8-2fc5-02a9-72b2fe0a1c4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Kế hoạch đào lò, xén lò" id="{b58ba415-e9d3-4176-d917-6c7e91cc08d5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Nhận diện thách thức" id="{b953058a-fe3a-d66a-4f2a-f2ca1f379c93}">
          <p14:sldIdLst>
            <p14:sldId id="287"/>
            <p14:sldId id="288"/>
            <p14:sldId id="289"/>
          </p14:sldIdLst>
        </p14:section>
        <p14:section name="Giải pháp và tổ chức thực hiện" id="{862a6e37-3772-1a8e-9f94-91b101715b2a}">
          <p14:sldIdLst>
            <p14:sldId id="290"/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KH QĐ 2675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 NK hầm lò</c:v>
                  </c:pt>
                  <c:pt idx="1">
                    <c:v>Mét lò đào CBSX</c:v>
                  </c:pt>
                  <c:pt idx="2">
                    <c:v>Mét lò xén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72.6</c:v>
                </c:pt>
                <c:pt idx="1">
                  <c:v>69.4</c:v>
                </c:pt>
                <c:pt idx="2">
                  <c:v>68.7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KH 3374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 NK hầm lò</c:v>
                  </c:pt>
                  <c:pt idx="1">
                    <c:v>Mét lò đào CBSX</c:v>
                  </c:pt>
                  <c:pt idx="2">
                    <c:v>Mét lò xén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71.2</c:v>
                </c:pt>
                <c:pt idx="1">
                  <c:v>70.7</c:v>
                </c:pt>
                <c:pt idx="2">
                  <c:v>72.3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Số ngày làm việc theo tháng năm 2027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Ngày làm việc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27</c:v>
                </c:pt>
                <c:pt idx="3">
                  <c:v>24</c:v>
                </c:pt>
                <c:pt idx="4">
                  <c:v>25</c:v>
                </c:pt>
                <c:pt idx="5">
                  <c:v>26</c:v>
                </c:pt>
                <c:pt idx="6">
                  <c:v>27</c:v>
                </c:pt>
                <c:pt idx="7">
                  <c:v>26</c:v>
                </c:pt>
                <c:pt idx="8">
                  <c:v>25</c:v>
                </c:pt>
                <c:pt idx="9">
                  <c:v>26</c:v>
                </c:pt>
                <c:pt idx="10">
                  <c:v>24</c:v>
                </c:pt>
                <c:pt idx="11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533"/>
                </a:solidFill>
                <a:latin typeface="+mn-lt"/>
              </a:rPr>
              <a:t>Tổng sản lượng than bình quân ngày theo tháng (tấn/ngày)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Tổng sản lượng than BQ ngày (tấn/ngày)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9296.4</c:v>
                </c:pt>
                <c:pt idx="1">
                  <c:v>9475.6</c:v>
                </c:pt>
                <c:pt idx="2">
                  <c:v>8855.9</c:v>
                </c:pt>
                <c:pt idx="3">
                  <c:v>8779.5</c:v>
                </c:pt>
                <c:pt idx="4">
                  <c:v>8728.3</c:v>
                </c:pt>
                <c:pt idx="5">
                  <c:v>9496.5</c:v>
                </c:pt>
                <c:pt idx="6">
                  <c:v>7544.7</c:v>
                </c:pt>
                <c:pt idx="7">
                  <c:v>7646.5</c:v>
                </c:pt>
                <c:pt idx="8">
                  <c:v>8144.3</c:v>
                </c:pt>
                <c:pt idx="9">
                  <c:v>8611.8</c:v>
                </c:pt>
                <c:pt idx="10">
                  <c:v>7812.8</c:v>
                </c:pt>
                <c:pt idx="11">
                  <c:v>8341.3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NK hầm lò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201623.6</c:v>
                </c:pt>
                <c:pt idx="1">
                  <c:v>208333.3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đào CBSX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2022.5</c:v>
                </c:pt>
                <c:pt idx="1">
                  <c:v>2116.7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xén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5BA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572.3</c:v>
                </c:pt>
                <c:pt idx="1">
                  <c:v>625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Cơ cấu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9B2D"/>
              </a:solidFill>
              <a:effectLst/>
            </c:spPr>
          </c:dPt>
          <c:dPt>
            <c:idx val="1"/>
            <c:bubble3D val="0"/>
            <c:spPr>
              <a:solidFill>
                <a:srgbClr val="1F5C99"/>
              </a:solidFill>
              <a:effectLst/>
            </c:spPr>
          </c:dPt>
          <c:dPt>
            <c:idx val="2"/>
            <c:bubble3D val="0"/>
            <c:spPr>
              <a:solidFill>
                <a:srgbClr val="2A9D8F"/>
              </a:solidFill>
              <a:effectLst/>
            </c:spPr>
          </c:dPt>
          <c:dPt>
            <c:idx val="3"/>
            <c:bubble3D val="0"/>
            <c:spPr>
              <a:solidFill>
                <a:srgbClr val="8E5BA8"/>
              </a:solidFill>
              <a:effectLst/>
            </c:spPr>
          </c:dPt>
          <c:dPt>
            <c:idx val="4"/>
            <c:bubble3D val="0"/>
            <c:spPr>
              <a:solidFill>
                <a:srgbClr val="8C99A8"/>
              </a:solidFill>
              <a:effectLst/>
            </c:spPr>
          </c:dPt>
          <c:dPt>
            <c:idx val="5"/>
            <c:bubble3D val="0"/>
            <c:spPr>
              <a:solidFill>
                <a:srgbClr val="C7D0DA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CGH đồng bộ</c:v>
                </c:pt>
                <c:pt idx="1">
                  <c:v>Giá khung</c:v>
                </c:pt>
                <c:pt idx="2">
                  <c:v>Giá xích</c:v>
                </c:pt>
                <c:pt idx="3">
                  <c:v>Giàn ZRY</c:v>
                </c:pt>
                <c:pt idx="4">
                  <c:v>Than đào lò</c:v>
                </c:pt>
                <c:pt idx="5">
                  <c:v>Than xén lò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780000</c:v>
                </c:pt>
                <c:pt idx="1">
                  <c:v>1118900</c:v>
                </c:pt>
                <c:pt idx="2">
                  <c:v>162300</c:v>
                </c:pt>
                <c:pt idx="3">
                  <c:v>155100</c:v>
                </c:pt>
                <c:pt idx="4">
                  <c:v>273000</c:v>
                </c:pt>
                <c:pt idx="5">
                  <c:v>10700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lò chợ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207200</c:v>
                </c:pt>
                <c:pt idx="1">
                  <c:v>132100</c:v>
                </c:pt>
                <c:pt idx="2">
                  <c:v>211900</c:v>
                </c:pt>
                <c:pt idx="3">
                  <c:v>182800</c:v>
                </c:pt>
                <c:pt idx="4">
                  <c:v>190400</c:v>
                </c:pt>
                <c:pt idx="5">
                  <c:v>219400</c:v>
                </c:pt>
                <c:pt idx="6">
                  <c:v>175400</c:v>
                </c:pt>
                <c:pt idx="7">
                  <c:v>173200</c:v>
                </c:pt>
                <c:pt idx="8">
                  <c:v>182800</c:v>
                </c:pt>
                <c:pt idx="9">
                  <c:v>205200</c:v>
                </c:pt>
                <c:pt idx="10">
                  <c:v>169500</c:v>
                </c:pt>
                <c:pt idx="11">
                  <c:v>166400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Than đào, xén lò</c:v>
                </c:pt>
              </c:strCache>
            </c:strRef>
          </c:tx>
          <c:spPr>
            <a:solidFill>
              <a:srgbClr val="E3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25209</c:v>
                </c:pt>
                <c:pt idx="1">
                  <c:v>19509</c:v>
                </c:pt>
                <c:pt idx="2">
                  <c:v>27209</c:v>
                </c:pt>
                <c:pt idx="3">
                  <c:v>27909</c:v>
                </c:pt>
                <c:pt idx="4">
                  <c:v>27808</c:v>
                </c:pt>
                <c:pt idx="5">
                  <c:v>27508</c:v>
                </c:pt>
                <c:pt idx="6">
                  <c:v>28308</c:v>
                </c:pt>
                <c:pt idx="7">
                  <c:v>25608</c:v>
                </c:pt>
                <c:pt idx="8">
                  <c:v>20808</c:v>
                </c:pt>
                <c:pt idx="9">
                  <c:v>18708</c:v>
                </c:pt>
                <c:pt idx="10">
                  <c:v>18008</c:v>
                </c:pt>
                <c:pt idx="11">
                  <c:v>17108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lò chợ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Quý I</c:v>
                  </c:pt>
                  <c:pt idx="1">
                    <c:v>Quý II</c:v>
                  </c:pt>
                  <c:pt idx="2">
                    <c:v>Quý III</c:v>
                  </c:pt>
                  <c:pt idx="3">
                    <c:v>Quý IV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551200</c:v>
                </c:pt>
                <c:pt idx="1">
                  <c:v>592600</c:v>
                </c:pt>
                <c:pt idx="2">
                  <c:v>531400</c:v>
                </c:pt>
                <c:pt idx="3">
                  <c:v>541100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Than đào, xén lò</c:v>
                </c:pt>
              </c:strCache>
            </c:strRef>
          </c:tx>
          <c:spPr>
            <a:solidFill>
              <a:srgbClr val="E3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Quý I</c:v>
                  </c:pt>
                  <c:pt idx="1">
                    <c:v>Quý II</c:v>
                  </c:pt>
                  <c:pt idx="2">
                    <c:v>Quý III</c:v>
                  </c:pt>
                  <c:pt idx="3">
                    <c:v>Quý IV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71927</c:v>
                </c:pt>
                <c:pt idx="1">
                  <c:v>83225</c:v>
                </c:pt>
                <c:pt idx="2">
                  <c:v>74724</c:v>
                </c:pt>
                <c:pt idx="3">
                  <c:v>53824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Sản lượng 2027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Than 3</c:v>
                  </c:pt>
                  <c:pt idx="1">
                    <c:v>Than 5</c:v>
                  </c:pt>
                  <c:pt idx="2">
                    <c:v>Than 2</c:v>
                  </c:pt>
                  <c:pt idx="3">
                    <c:v>Than 11</c:v>
                  </c:pt>
                  <c:pt idx="4">
                    <c:v>Than 6</c:v>
                  </c:pt>
                  <c:pt idx="5">
                    <c:v>Than 9</c:v>
                  </c:pt>
                  <c:pt idx="6">
                    <c:v>Than 1</c:v>
                  </c:pt>
                  <c:pt idx="7">
                    <c:v>Than 8</c:v>
                  </c:pt>
                  <c:pt idx="8">
                    <c:v>Than 10</c:v>
                  </c:pt>
                  <c:pt idx="9">
                    <c:v>CGH2</c:v>
                  </c:pt>
                  <c:pt idx="10">
                    <c:v>CGH1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125100</c:v>
                </c:pt>
                <c:pt idx="1">
                  <c:v>130400</c:v>
                </c:pt>
                <c:pt idx="2">
                  <c:v>165000</c:v>
                </c:pt>
                <c:pt idx="3">
                  <c:v>172200</c:v>
                </c:pt>
                <c:pt idx="4">
                  <c:v>176300</c:v>
                </c:pt>
                <c:pt idx="5">
                  <c:v>176400</c:v>
                </c:pt>
                <c:pt idx="6">
                  <c:v>179000</c:v>
                </c:pt>
                <c:pt idx="7">
                  <c:v>181800</c:v>
                </c:pt>
                <c:pt idx="8">
                  <c:v>183100</c:v>
                </c:pt>
                <c:pt idx="9">
                  <c:v>346100</c:v>
                </c:pt>
                <c:pt idx="10">
                  <c:v>434600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Theo tính chất đất đá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Tính chất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99"/>
              </a:solidFill>
              <a:effectLst/>
            </c:spPr>
          </c:dPt>
          <c:dPt>
            <c:idx val="1"/>
            <c:bubble3D val="0"/>
            <c:spPr>
              <a:solidFill>
                <a:srgbClr val="8C99A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Lò than</c:v>
                </c:pt>
                <c:pt idx="1">
                  <c:v>Lò đá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16979</c:v>
                </c:pt>
                <c:pt idx="1">
                  <c:v>8421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Theo vật liệu chống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Vật liệu chống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9D8F"/>
              </a:solidFill>
              <a:effectLst/>
            </c:spPr>
          </c:dPt>
          <c:dPt>
            <c:idx val="1"/>
            <c:bubble3D val="0"/>
            <c:spPr>
              <a:solidFill>
                <a:srgbClr val="E39B2D"/>
              </a:solidFill>
              <a:effectLst/>
            </c:spPr>
          </c:dPt>
          <c:dPt>
            <c:idx val="2"/>
            <c:bubble3D val="0"/>
            <c:spPr>
              <a:solidFill>
                <a:srgbClr val="8E5BA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Chống sắt</c:v>
                </c:pt>
                <c:pt idx="1">
                  <c:v>Chống neo</c:v>
                </c:pt>
                <c:pt idx="2">
                  <c:v>Chống gỗ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22692</c:v>
                </c:pt>
                <c:pt idx="1">
                  <c:v>1756</c:v>
                </c:pt>
                <c:pt idx="2">
                  <c:v>952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đào CBSX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2400</c:v>
                </c:pt>
                <c:pt idx="1">
                  <c:v>1730</c:v>
                </c:pt>
                <c:pt idx="2">
                  <c:v>2330</c:v>
                </c:pt>
                <c:pt idx="3">
                  <c:v>2450</c:v>
                </c:pt>
                <c:pt idx="4">
                  <c:v>2400</c:v>
                </c:pt>
                <c:pt idx="5">
                  <c:v>2400</c:v>
                </c:pt>
                <c:pt idx="6">
                  <c:v>2400</c:v>
                </c:pt>
                <c:pt idx="7">
                  <c:v>2300</c:v>
                </c:pt>
                <c:pt idx="8">
                  <c:v>1993</c:v>
                </c:pt>
                <c:pt idx="9">
                  <c:v>1735</c:v>
                </c:pt>
                <c:pt idx="10">
                  <c:v>1695</c:v>
                </c:pt>
                <c:pt idx="11">
                  <c:v>1567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Lò than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ĐL BCG</c:v>
                  </c:pt>
                  <c:pt idx="1">
                    <c:v>Đào lò 1</c:v>
                  </c:pt>
                  <c:pt idx="2">
                    <c:v>Đào lò 5</c:v>
                  </c:pt>
                  <c:pt idx="3">
                    <c:v>Đào lò 6</c:v>
                  </c:pt>
                  <c:pt idx="4">
                    <c:v>Đào lò 3</c:v>
                  </c:pt>
                  <c:pt idx="5">
                    <c:v>ĐL CGĐB</c:v>
                  </c:pt>
                  <c:pt idx="6">
                    <c:v>Cty XLM</c:v>
                  </c:pt>
                  <c:pt idx="7">
                    <c:v>Thuê ngoài</c:v>
                  </c:pt>
                  <c:pt idx="8">
                    <c:v>11 PX khai thác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550</c:v>
                </c:pt>
                <c:pt idx="1">
                  <c:v>1965</c:v>
                </c:pt>
                <c:pt idx="2">
                  <c:v>1635</c:v>
                </c:pt>
                <c:pt idx="3">
                  <c:v>2002</c:v>
                </c:pt>
                <c:pt idx="4">
                  <c:v>1743</c:v>
                </c:pt>
                <c:pt idx="5">
                  <c:v>2350</c:v>
                </c:pt>
                <c:pt idx="6">
                  <c:v>125</c:v>
                </c:pt>
                <c:pt idx="7">
                  <c:v>2250</c:v>
                </c:pt>
                <c:pt idx="8">
                  <c:v>4359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Lò đá</c:v>
                </c:pt>
              </c:strCache>
            </c:strRef>
          </c:tx>
          <c:spPr>
            <a:solidFill>
              <a:srgbClr val="8C99A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ĐL BCG</c:v>
                  </c:pt>
                  <c:pt idx="1">
                    <c:v>Đào lò 1</c:v>
                  </c:pt>
                  <c:pt idx="2">
                    <c:v>Đào lò 5</c:v>
                  </c:pt>
                  <c:pt idx="3">
                    <c:v>Đào lò 6</c:v>
                  </c:pt>
                  <c:pt idx="4">
                    <c:v>Đào lò 3</c:v>
                  </c:pt>
                  <c:pt idx="5">
                    <c:v>ĐL CGĐB</c:v>
                  </c:pt>
                  <c:pt idx="6">
                    <c:v>Cty XLM</c:v>
                  </c:pt>
                  <c:pt idx="7">
                    <c:v>Thuê ngoài</c:v>
                  </c:pt>
                  <c:pt idx="8">
                    <c:v>11 PX khai thác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1216</c:v>
                </c:pt>
                <c:pt idx="1">
                  <c:v>260</c:v>
                </c:pt>
                <c:pt idx="2">
                  <c:v>638</c:v>
                </c:pt>
                <c:pt idx="3">
                  <c:v>360</c:v>
                </c:pt>
                <c:pt idx="4">
                  <c:v>668</c:v>
                </c:pt>
                <c:pt idx="5">
                  <c:v>535</c:v>
                </c:pt>
                <c:pt idx="6">
                  <c:v>2875</c:v>
                </c:pt>
                <c:pt idx="7">
                  <c:v>1250</c:v>
                </c:pt>
                <c:pt idx="8">
                  <c:v>619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Xén trong than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Cty XLM</c:v>
                  </c:pt>
                  <c:pt idx="1">
                    <c:v>Đào lò 3</c:v>
                  </c:pt>
                  <c:pt idx="2">
                    <c:v>ĐL CGĐB</c:v>
                  </c:pt>
                  <c:pt idx="3">
                    <c:v>Đào lò 6</c:v>
                  </c:pt>
                  <c:pt idx="4">
                    <c:v>Đào lò 5</c:v>
                  </c:pt>
                  <c:pt idx="5">
                    <c:v>Đào lò 1</c:v>
                  </c:pt>
                  <c:pt idx="6">
                    <c:v>ĐL BCG</c:v>
                  </c:pt>
                  <c:pt idx="7">
                    <c:v>11 PX khai thác</c:v>
                  </c:pt>
                  <c:pt idx="8">
                    <c:v>Thuê ngoài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150</c:v>
                </c:pt>
                <c:pt idx="2">
                  <c:v>70</c:v>
                </c:pt>
                <c:pt idx="3">
                  <c:v>120</c:v>
                </c:pt>
                <c:pt idx="4">
                  <c:v>0</c:v>
                </c:pt>
                <c:pt idx="5">
                  <c:v>0</c:v>
                </c:pt>
                <c:pt idx="6">
                  <c:v>240</c:v>
                </c:pt>
                <c:pt idx="7">
                  <c:v>1263</c:v>
                </c:pt>
                <c:pt idx="8">
                  <c:v>1566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Xén trong đá</c:v>
                </c:pt>
              </c:strCache>
            </c:strRef>
          </c:tx>
          <c:spPr>
            <a:solidFill>
              <a:srgbClr val="8C99A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Cty XLM</c:v>
                  </c:pt>
                  <c:pt idx="1">
                    <c:v>Đào lò 3</c:v>
                  </c:pt>
                  <c:pt idx="2">
                    <c:v>ĐL CGĐB</c:v>
                  </c:pt>
                  <c:pt idx="3">
                    <c:v>Đào lò 6</c:v>
                  </c:pt>
                  <c:pt idx="4">
                    <c:v>Đào lò 5</c:v>
                  </c:pt>
                  <c:pt idx="5">
                    <c:v>Đào lò 1</c:v>
                  </c:pt>
                  <c:pt idx="6">
                    <c:v>ĐL BCG</c:v>
                  </c:pt>
                  <c:pt idx="7">
                    <c:v>11 PX khai thác</c:v>
                  </c:pt>
                  <c:pt idx="8">
                    <c:v>Thuê ngoài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128</c:v>
                </c:pt>
                <c:pt idx="1">
                  <c:v>50</c:v>
                </c:pt>
                <c:pt idx="2">
                  <c:v>290</c:v>
                </c:pt>
                <c:pt idx="3">
                  <c:v>240</c:v>
                </c:pt>
                <c:pt idx="4">
                  <c:v>385</c:v>
                </c:pt>
                <c:pt idx="5">
                  <c:v>435</c:v>
                </c:pt>
                <c:pt idx="6">
                  <c:v>260</c:v>
                </c:pt>
                <c:pt idx="7">
                  <c:v>997</c:v>
                </c:pt>
                <c:pt idx="8">
                  <c:v>1301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Mức tăng BQ tháng (%)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Than 5</c:v>
                  </c:pt>
                  <c:pt idx="1">
                    <c:v>Than 8</c:v>
                  </c:pt>
                  <c:pt idx="2">
                    <c:v>Than 3</c:v>
                  </c:pt>
                  <c:pt idx="3">
                    <c:v>CGH1</c:v>
                  </c:pt>
                  <c:pt idx="4">
                    <c:v>Than 6</c:v>
                  </c:pt>
                  <c:pt idx="5">
                    <c:v>Than 10</c:v>
                  </c:pt>
                  <c:pt idx="6">
                    <c:v>Than 2</c:v>
                  </c:pt>
                  <c:pt idx="7">
                    <c:v>CGH2</c:v>
                  </c:pt>
                  <c:pt idx="8">
                    <c:v>Than 1</c:v>
                  </c:pt>
                  <c:pt idx="9">
                    <c:v>Than 9</c:v>
                  </c:pt>
                  <c:pt idx="10">
                    <c:v>Than 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-20</c:v>
                </c:pt>
                <c:pt idx="1">
                  <c:v>-17.8</c:v>
                </c:pt>
                <c:pt idx="2">
                  <c:v>-10.5</c:v>
                </c:pt>
                <c:pt idx="3">
                  <c:v>-9.9</c:v>
                </c:pt>
                <c:pt idx="4">
                  <c:v>-9.8</c:v>
                </c:pt>
                <c:pt idx="5">
                  <c:v>-6.2</c:v>
                </c:pt>
                <c:pt idx="6">
                  <c:v>-0.9</c:v>
                </c:pt>
                <c:pt idx="7">
                  <c:v>22.4</c:v>
                </c:pt>
                <c:pt idx="8">
                  <c:v>31.5</c:v>
                </c:pt>
                <c:pt idx="9">
                  <c:v>49.5</c:v>
                </c:pt>
                <c:pt idx="10">
                  <c:v>59.7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Bìa. Nguồn: file KH_CÔNG TRƯỜNG-PX_2027 (16/10/2026), sheet 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B1.BC_TKV_T9-2026 (chốt 13/10/2026), sheet TKV cộng tháng 1-9; KH năm theo QĐ 2675/QĐ-TKV và 3374/KH-TKV (sheet PHU_LUC cột E, F). Tỷ lệ = TH 9T / KH năm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file KH_CÔNG TRƯỜNG-PX_2027 ngày 16/10/2026: sheet BIA, TONG_HOP, KH_LC (dòng 17 số ngày làm việc), KH_ĐL, TH_PX2027.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TONG_HOP cột D (D6, D17, D54, D73, D26, D7). Hệ số mét lò = 25.400 / 2.500.000 x 1000 = 10,16.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TONG_HOP, cột D. Tỷ trọng = chỉ tiêu con / chỉ tiêu tổng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KH_LC dòng 17 (ngày làm việc), 19 (tổng), 20 (than đào xén), 21 (than lò chợ); KH_ĐL dòng 14 (mét đào), 15 (mét xén), cột T1..T12. Cả năm = cộng 12 tháng; BQ tháng = Cả năm / 12; BQ ngày = Tổng SL tháng / số ngày làm việc. 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như trang trước. Quý = cộng 3 tháng; BQ tháng trong quý = Quý / 3; % năm = Quý / Cả năm x 100; BQ quý = Cả năm / 4; BQ tháng = Cả năm / 12. 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BQ ngày tháng = khối lượng tháng / số ngày làm việc của tháng (KH_LC dòng 17). Cả năm = tổng năm / 293 ngày. 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BQ quý = cả năm / 4; BQ tháng = cả năm / 12; BQ ngày = cả năm / 293 ngày; BQ ngày từng quý = khối lượng quý / số ngày làm việc của quý (68, 75, 78, 72 ngày). 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 2026 theo QĐ 2675/QĐ-TKV (file B1.BC_TKV_T9-2026, sheet PHU_LUC cột E). KH 2027: sheet TONG_HOP. Chênh lệch % = (KH2027/KH2026 - 1) x 100. KH 2026 than xén gồm cả than hạ nền.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BQ tháng KH 2027 = KH năm / 12. BQ tháng TH 2026 = TH 9 tháng / 9 (sheet TKV file B1.BC_TKV_T9-2026). Mức tăng = (BQ2027/BQ2026 - 1)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(D8-D14), TH_G.KHOAN (D19, D22, D28, D31; K28, L28). Tỷ trọng = thành phần / 2.500.000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 dòng 19-21 (cột T1..T12). Than đào xén tạm phân bổ đều 100 tấn chênh lệch (file cộng tháng 283.600 so với KH năm 283.700).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 dòng 19-21, quý = cộng 3 tháng. Than đào xén tạm phân bổ đều 100 tấn chênh lệch vào 12 tháng (file: cộng tháng 283.600, KH năm 283.700). Sheet TH_PX2027 ghi quý khác KH_LC; cần thống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TH_PX2027 cột D (sản lượng), E (than lò chợ), F+G (than đào, xén). Sắp xếp giảm dần.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(D, E, F, G), TH_G.KHOAN dòng 19-31 (công nghệ), KH_LC (số lò chợ). TH 9T/2026: sheet TKV dòng 185 file B1.BC_TKV_T9-2026.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KH_LC, cột V (SL 2027), W (SL còn lại), T1..T12. Không tính diện dự phòng N-6a-1.1, 1.2, 1.3 của PX KT5.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KH_LC, cột V, W, T1..T12. Tổng 37 lò chợ = 2.216.300 tấn, khớp sheet TONG_HOP D7.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DIEN_DP (lịch quý các lò chợ CGH), KH_LC (thông số lò chợ), TH_G.KHOAN D28, D31. CGH dốc LC TT-11-10B (PX KT3) khai thác tháng 12/2027.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DIEN_DP (cột C trữ lượng, D huy động 2027, E còn lại chuyển 2028).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D17-D28. Tỷ trọng = thành phần / 25.400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KH_ĐL dòng 14 (ĐL CBSX) cột T1..T12 và QI..QIV. Tổng 12 tháng = 25.400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cột I (mét đào), TH_G.KHOAN dòng 37 (lò than), 68 (lò đá).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(cột D, F, G, I, J); TH_G.KHOAN dòng 37, 68, 122, 123. TH 9T/2026: sheet TKV dòng 156 (mét lò đào theo PX).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KH_ĐL, các đường lò thuộc mục "ĐL CBSX" sắp xếp theo khối lượng năm (cột I, J, K, G, D). 162 đường lò, tổng 25.400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D54-D60; TH_PX2027 cột J; TH_G.KHOAN dòng 122-123. Tổng mét xén theo quý trong TH_PX2027 = 7.425 m, theo tháng trong KH_ĐL = 7.265 m; trên slide bảng tháng/quý đã tạm phân bổ đều 235 m chênh lệch vào 12 tháng.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 số liệu: TH 9T/2026 (sheet TKV, PHU_LUC file B1.BC_TKV_T9-2026); KH 2027 (TONG_HOP, KH_LC, KH_ĐL). ZRY 2026: 82.283,39 tấn/9 tháng; EBH 2026: 459,9 m/9 tháng, không có KL từ tháng 6; neo 2026: 861,6 m/9 tháng.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Tăng (%) = (KH 2027/12) / (TH 9T 2026/9) - 1. KH: TH_PX2027 cột D; TH 9T/2026: sheet TKV dòng 185 (file B1.BC_TKV_T9-2026).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do Phòng KCM đề xuất, cần rà soát trước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do Phòng KCM đề xuất, cần rà soát trước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Phân công đề xuất, cần Giám đốc Công ty quyết định tại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kết thúc.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6DEE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6DEE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Công ty than Dương Huy - TKV  |  Kế hoạch sản xuất năm 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XUẤT NĂM 2027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EE8"/>
                </a:solidFill>
              </a:rPr>
              <a:t>Công ty than Dương Huy - TKV  ·  Phòng Kỹ thuật công nghệ mỏ (KCM)</a:t>
            </a:r>
            <a:endParaRPr lang="en-US" sz="1800" dirty="0"/>
          </a:p>
        </p:txBody>
      </p:sp>
      <p:sp>
        <p:nvSpPr>
          <p:cNvPr id="5" name="logo-dot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2027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FC0D3"/>
                </a:solidFill>
              </a:rPr>
              <a:t>Hội nghị triển khai kế hoạch sản xuất năm 2027  ·  Quảng Ninh, tháng 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báo cáo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69164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Kết quả 9 tháng 2026 và căn cứ lập kế hoạch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69164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160020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Các chỉ tiêu chủ yếu năm 2027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8803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5468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sản lượng than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28803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315468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đào lò, xén lò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43434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4617720"/>
            <a:ext cx="640080" cy="64008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452628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Nhận diện thách thức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61772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452628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Giải pháp và tổ chức thực hiện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9 tháng 2026 và căn cứ lập kế hoạch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Điểm xuất phát của kế hoạch năm 2027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9 tháng 2026: cả 3 chỉ tiêu chính dưới tiến độ 75%</a:t>
            </a:r>
            <a:endParaRPr lang="en-US" sz="2800" dirty="0"/>
          </a:p>
        </p:txBody>
      </p:sp>
      <p:sp>
        <p:nvSpPr>
          <p:cNvPr id="4" name="kpi-card"/>
          <p:cNvSpPr/>
          <p:nvPr/>
        </p:nvSpPr>
        <p:spPr>
          <a:xfrm>
            <a:off x="54864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9047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NK hầm lò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1.814.612,8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72,6% KH QĐ 2675  ·  71,2%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201.623,6 tấn/tháng</a:t>
            </a:r>
            <a:endParaRPr lang="en-US" sz="1200" dirty="0"/>
          </a:p>
        </p:txBody>
      </p:sp>
      <p:sp>
        <p:nvSpPr>
          <p:cNvPr id="9" name="kpi-card"/>
          <p:cNvSpPr/>
          <p:nvPr/>
        </p:nvSpPr>
        <p:spPr>
          <a:xfrm>
            <a:off x="429768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9047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CBSX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18.202,4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69,4% KH QĐ 2675  ·  70,7%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2.022,5 m/tháng</a:t>
            </a:r>
            <a:endParaRPr lang="en-US" sz="1200" dirty="0"/>
          </a:p>
        </p:txBody>
      </p:sp>
      <p:sp>
        <p:nvSpPr>
          <p:cNvPr id="14" name="kpi-card"/>
          <p:cNvSpPr/>
          <p:nvPr/>
        </p:nvSpPr>
        <p:spPr>
          <a:xfrm>
            <a:off x="804672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49047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5.150,7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68,7% KH QĐ 2675  ·  72,3%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572,3 m/tháng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48640" y="3474720"/>
          <a:ext cx="74980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6"/>
          <p:cNvSpPr/>
          <p:nvPr/>
        </p:nvSpPr>
        <p:spPr>
          <a:xfrm>
            <a:off x="8321040" y="3474720"/>
            <a:ext cx="3291840" cy="2514600"/>
          </a:xfrm>
          <a:prstGeom prst="roundRect">
            <a:avLst>
              <a:gd name="adj" fmla="val 2909"/>
            </a:avLst>
          </a:prstGeom>
          <a:solidFill>
            <a:srgbClr val="FDF3E3"/>
          </a:solidFill>
          <a:ln w="9525">
            <a:solidFill>
              <a:srgbClr val="F2D3A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54964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F"/>
                </a:solidFill>
              </a:rPr>
              <a:t>Tiến độ thời gian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549640" y="3977640"/>
            <a:ext cx="29260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75,0%</a:t>
            </a:r>
            <a:endParaRPr lang="en-US" sz="4000" dirty="0"/>
          </a:p>
        </p:txBody>
      </p:sp>
      <p:sp>
        <p:nvSpPr>
          <p:cNvPr id="23" name="Text 19"/>
          <p:cNvSpPr txBox="1"/>
          <p:nvPr/>
        </p:nvSpPr>
        <p:spPr>
          <a:xfrm>
            <a:off x="8549640" y="4754880"/>
            <a:ext cx="29260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So với mức 75% KH năm (QĐ 2675): sản lượng còn thiếu 60.387,2 tấn; mét lò đào thiếu 1.470,1 m.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Tổng hợp KLM 9 tháng 2026 (chốt 13/10/2026); KH theo QĐ 2675/QĐ-TKV và 3374/KH-TKV.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Căn cứ và phạm vi lập kế hoạch năm 2027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40080" y="1389888"/>
            <a:ext cx="548640" cy="54864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sản xuất năm 2027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64208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Dự thảo của Phòng KCM (16/10/2026), ban hành kèm Quyết định của Công ty sau khi thông qua.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450592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Thời gian làm việc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8346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293 ngày làm việc trong năm; thấp nhất tháng 2 (16 ngày), cao nhất tháng 3 và tháng 7 (27 ngày).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30752"/>
            <a:ext cx="548640" cy="548640"/>
          </a:xfrm>
          <a:prstGeom prst="ellipse">
            <a:avLst/>
          </a:prstGeom>
          <a:solidFill>
            <a:srgbClr val="8E5BA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730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621024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Diện khai thác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05072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37 lò chợ thuộc 11 phân xưởng khai thác; 12 lò chợ chuyển tiếp sang năm 2028.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901184"/>
            <a:ext cx="548640" cy="5486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0080" y="4901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791456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Đào, xén lò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5175504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162 đường lò đào CBSX; 6 phân xưởng đào lò, Công ty XLM và đơn vị thuê ngoài TKV tham gia.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7406640" y="1280160"/>
          <a:ext cx="4206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 (16/10/2026), sheet BIA, KH_LC,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chỉ tiêu chủ yếu năm 2027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Sản lượng, mét lò và chỉ tiêu công nghệ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2027: 2,5 triệu tấn than và 25.400 m lò đào</a:t>
            </a:r>
            <a:endParaRPr lang="en-US" sz="2800" dirty="0"/>
          </a:p>
        </p:txBody>
      </p:sp>
      <p:sp>
        <p:nvSpPr>
          <p:cNvPr id="4" name="kpi-card"/>
          <p:cNvSpPr/>
          <p:nvPr/>
        </p:nvSpPr>
        <p:spPr>
          <a:xfrm>
            <a:off x="54864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9047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nguyên khai hầm lò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2.500.000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BQ 208.333,3 tấn/tháng</a:t>
            </a:r>
            <a:endParaRPr lang="en-US" sz="1200" dirty="0"/>
          </a:p>
        </p:txBody>
      </p:sp>
      <p:sp>
        <p:nvSpPr>
          <p:cNvPr id="9" name="kpi-card"/>
          <p:cNvSpPr/>
          <p:nvPr/>
        </p:nvSpPr>
        <p:spPr>
          <a:xfrm>
            <a:off x="429768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9047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CBSX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25.400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Đá 8.421 m  ·  Than 16.979 m</a:t>
            </a:r>
            <a:endParaRPr lang="en-US" sz="1200" dirty="0"/>
          </a:p>
        </p:txBody>
      </p:sp>
      <p:sp>
        <p:nvSpPr>
          <p:cNvPr id="14" name="kpi-card"/>
          <p:cNvSpPr/>
          <p:nvPr/>
        </p:nvSpPr>
        <p:spPr>
          <a:xfrm>
            <a:off x="804672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49047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Đá 4.086 m  ·  Than 3.414 m</a:t>
            </a:r>
            <a:endParaRPr lang="en-US" sz="1200" dirty="0"/>
          </a:p>
        </p:txBody>
      </p:sp>
      <p:sp>
        <p:nvSpPr>
          <p:cNvPr id="19" name="kpi-card"/>
          <p:cNvSpPr/>
          <p:nvPr/>
        </p:nvSpPr>
        <p:spPr>
          <a:xfrm>
            <a:off x="54864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86791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lò chợ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2.216.300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88,7% tổng sản lượng · 37 lò chợ</a:t>
            </a:r>
            <a:endParaRPr lang="en-US" sz="1200" dirty="0"/>
          </a:p>
        </p:txBody>
      </p:sp>
      <p:sp>
        <p:nvSpPr>
          <p:cNvPr id="24" name="kpi-card"/>
          <p:cNvSpPr/>
          <p:nvPr/>
        </p:nvSpPr>
        <p:spPr>
          <a:xfrm>
            <a:off x="429768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26280" y="3867912"/>
            <a:ext cx="201168" cy="201168"/>
          </a:xfrm>
          <a:prstGeom prst="ellipse">
            <a:avLst/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0060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Hệ số mét lò CBSX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m/1000 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KH 2026 (QĐ 2675): 10,49</a:t>
            </a:r>
            <a:endParaRPr lang="en-US" sz="1200" dirty="0"/>
          </a:p>
        </p:txBody>
      </p:sp>
      <p:sp>
        <p:nvSpPr>
          <p:cNvPr id="29" name="kpi-card"/>
          <p:cNvSpPr/>
          <p:nvPr/>
        </p:nvSpPr>
        <p:spPr>
          <a:xfrm>
            <a:off x="804672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75320" y="386791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964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chống neo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1.756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6,9% tổng mét lò đào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 (Phụ lục 1: các chỉ tiêu KTCN chủ yếu).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Bảng các chỉ tiêu kinh tế - kỹ thuật chủ yếu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486400"/>
                <a:gridCol w="1280160"/>
                <a:gridCol w="23774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Tỷ trọng (%)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Than nguyên khai hầm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88,7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máy khấu (CGH)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giá khung, giá xích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1.281.200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51,2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giàn mềm ZRY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lò, xén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11,3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đá  (Sđ bq 16,96 m²)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33,2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than  (Sđ bq 13,21 m²)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66,8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Đào CGH đồng bộ (combai) / bán CGH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 / 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Chống sắt / neo / gỗ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22.692 / 1.756 / 952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Mét lò xén (tự làm / thuê ngoài)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7.500  (4.633 / 2.867)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IV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Hệ số mét lò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m/1000 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10,16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Thể trọng than NK hầm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tấn/m³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1,623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lượng, mét lò theo tháng và bình quân tháng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11384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658368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896112"/>
                <a:gridCol w="8961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Cả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BQ 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 làm việc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207.200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132.100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211.900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182.800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190.400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219.400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175.400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173.200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182.800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205.200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169.500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166.400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184.691,7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Than đào, xén lò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25.209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19.509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27.209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27.909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27.508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28.308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25.608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20.808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18.708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18.008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17.108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23.641,7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Tổng sản lượng than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232.409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151.609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239.109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210.709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218.208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246.908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203.708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198.808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203.608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223.908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187.508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183.508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208.333,3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1.730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2.330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2.450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2.300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1.993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1.735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1.695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1.567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2.116,7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xén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639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595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765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690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635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611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640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564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479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454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1B2533"/>
                          </a:solidFill>
                        </a:rPr>
                        <a:t>Than BQ 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9.296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9.476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8.856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8.780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8.728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9.496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7.545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7.646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8.144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8.612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7.813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8.341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8.532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548640" y="45262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7240" y="478231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5156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BQ tháng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120640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208.333,3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kpi-card"/>
          <p:cNvSpPr/>
          <p:nvPr/>
        </p:nvSpPr>
        <p:spPr>
          <a:xfrm>
            <a:off x="3337560" y="45262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66160" y="478231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84048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đào BQ tháng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5120640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2.116,7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kpi-card"/>
          <p:cNvSpPr/>
          <p:nvPr/>
        </p:nvSpPr>
        <p:spPr>
          <a:xfrm>
            <a:off x="6126480" y="45262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478231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294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xén BQ tháng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355080" y="5120640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625,0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915400" y="4526280"/>
            <a:ext cx="27432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A5A00"/>
                </a:solidFill>
              </a:rPr>
              <a:t>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và KH_ĐL (phân bổ theo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theo quý, bình quân quý và bình quân tháng trong quý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60120"/>
                <a:gridCol w="1600200"/>
                <a:gridCol w="960120"/>
                <a:gridCol w="960120"/>
                <a:gridCol w="960120"/>
                <a:gridCol w="960120"/>
                <a:gridCol w="1051560"/>
                <a:gridCol w="868680"/>
                <a:gridCol w="77724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Nội dung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II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III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IV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Cả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BQ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BQ 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 làm việc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Số 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551.200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592.600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531.400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541.100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554.075,0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184.691,7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183.733,3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197.533,3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177.133,3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180.366,7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Than đào, xén lò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71.927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83.225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74.724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53.824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70.925,0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23.641,7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23.975,7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27.741,7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24.908,0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17.941,3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Tổng sản lượng than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623.127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675.825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606.124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594.924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625.000,0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208.333,3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207.709,0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225.275,0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202.041,3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198.308,0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23,8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6.460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7.250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6.693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4.997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6.350,0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2.116,7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2.153,3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2.416,7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2.231,0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1.665,7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28,5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xén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1.999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2.118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1.886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1.497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1.875,0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666,3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706,0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628,7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499,0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28,2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25,1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69280"/>
            <a:ext cx="1106424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A5A00"/>
                </a:solidFill>
              </a:rPr>
              <a:t>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và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Bình quân ngày theo tháng: sản lượng than, mét lò đào, xén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842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630936"/>
                <a:gridCol w="630936"/>
                <a:gridCol w="630936"/>
                <a:gridCol w="630936"/>
                <a:gridCol w="630936"/>
                <a:gridCol w="630936"/>
                <a:gridCol w="630936"/>
                <a:gridCol w="630936"/>
                <a:gridCol w="630936"/>
                <a:gridCol w="630936"/>
                <a:gridCol w="630936"/>
                <a:gridCol w="630936"/>
                <a:gridCol w="1252728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Cả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 làm việc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8.288,0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8.256,3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7.848,1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7.616,7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7.616,0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8.438,5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6.496,3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6.661,5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7.312,0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7.892,3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7.062,5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7.563,6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7.564,2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Than đào, xén lò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1.008,4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1.219,3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1.007,7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1.162,9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1.112,3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1.058,0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1.048,4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984,9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832,3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719,5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750,3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777,6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968,3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Tổng sản lượng than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9.296,4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9.475,6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8.855,9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8.779,5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8.728,3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9.496,5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7.544,7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7.646,5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8.144,3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8.611,8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7.812,8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8.341,3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8.532,4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96,0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108,1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102,1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96,0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92,3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88,9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88,5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79,7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70,6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71,2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xén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37,2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28,3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33,7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27,6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23,8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25,6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11480" y="3611880"/>
          <a:ext cx="7863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pi-card"/>
          <p:cNvSpPr/>
          <p:nvPr/>
        </p:nvSpPr>
        <p:spPr>
          <a:xfrm>
            <a:off x="8503920" y="3611880"/>
            <a:ext cx="310896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8732520" y="386791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900684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Cao nhất: tháng 6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732520" y="4206240"/>
            <a:ext cx="27432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9.496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tấn/ngày</a:t>
            </a:r>
            <a:endParaRPr lang="en-US" sz="1400" dirty="0"/>
          </a:p>
        </p:txBody>
      </p:sp>
      <p:sp>
        <p:nvSpPr>
          <p:cNvPr id="10" name="kpi-card"/>
          <p:cNvSpPr/>
          <p:nvPr/>
        </p:nvSpPr>
        <p:spPr>
          <a:xfrm>
            <a:off x="8503920" y="4846320"/>
            <a:ext cx="310896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8732520" y="51023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06840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Thấp nhất: tháng 7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8732520" y="5440680"/>
            <a:ext cx="27432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7.545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tấn/ngày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KH_LC, KH_ĐL; số ngày làm việc KH_LC dòng 17.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hợp bình quân ngày, tháng, quý năm 2027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1143000"/>
                <a:gridCol w="1051560"/>
                <a:gridCol w="1051560"/>
                <a:gridCol w="1051560"/>
                <a:gridCol w="969264"/>
                <a:gridCol w="969264"/>
                <a:gridCol w="969264"/>
                <a:gridCol w="978408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ĐVT (năm)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Cả năm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quý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tháng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ngày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ngày quý I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ngày quý II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ngày quý III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BQ ngày quý IV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Ngày làm việc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ngày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293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73,3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68 ngày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75 ngày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78 ngày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72 ngày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554.075,0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184.691,7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7.564,2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8.105,9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7.901,3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6.812,8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7.515,3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Than đào, xén lò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70.925,0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23.641,7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968,3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1.057,8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1.109,7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958,0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747,6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Tổng sản lượng than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625.000,0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208.333,3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8.532,4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9.163,6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9.011,0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7.770,8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8.262,8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6.350,0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2.116,7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86,7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95,0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96,7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85,8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69,4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Mét lò xén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1.875,0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625,0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</a:rPr>
                        <a:t>25,6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29,4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28,2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24,2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</a:rPr>
                        <a:t>20,8</a:t>
                      </a:r>
                      <a:endParaRPr lang="en-US" sz="11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548640" y="43434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7240" y="459943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51560" y="45262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BQ ngày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9377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8.532,4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tấn/ngày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53212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BQ tháng 208.333,3 t · BQ quý 625.000 t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4297680" y="43434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26280" y="459943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00600" y="45262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BQ ngày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9377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86,7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m/ngày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553212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BQ tháng 2.116,7 m · BQ quý 6.350 m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046720" y="43434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459943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549640" y="45262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 BQ ngày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4937760"/>
            <a:ext cx="3200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m/ngày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553212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BQ tháng 625,0 m · BQ quý 1.875 m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TONG_HOP, KH_LC,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kế hoạch 2026: giữ sản lượng, tăng CGH, giảm mét lò đào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066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Chênh lệch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NK hầm lò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CGH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732.000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+48.000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+6,6%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GK, GX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1.269.200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1.281.200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+12.000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+0,9%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ZRY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167.000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-11.900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-7,1%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DVPT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-15.000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-100,0%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 CBSX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302.680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273.000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-29.680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-9,8%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đào CBSX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26.230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-830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-3,2%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- Lò đá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8.510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-89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-1,0%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- Lò than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17.720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-741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-4,2%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xén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chống neo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+75,6%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CGH combai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+25,0%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bán CGH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1.180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+420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+35,6%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8229600" y="11887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412480" y="1371600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868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Sản lượng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16459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Giữ 2.500.000 tấn; than lò chợ tăng 33.100 tấn (+1,5%), than đào lò giảm 29.680 tấn.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8229600" y="27889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412480" y="2971800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Công nghệ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2461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CGH tăng 48.000 tấn (+6,6%); không còn lò chợ DVPT; ZRY giảm 11.900 tấn.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0" y="43891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4572000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Đào lò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8463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Giảm 830 m (-3,2%); chống neo tăng 756 m; hệ số mét lò 10,16 (KH 2026: 10,49).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2026: QĐ 2675/QĐ-TKV; KH 2027: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Nhịp sản xuất bình quân tháng phải cao hơn 9 tháng 2026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Than NK hầm lò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5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+3,3%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8580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429768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Mét lò đào CBSX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+4,7%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443484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9"/>
          <p:cNvSpPr/>
          <p:nvPr/>
        </p:nvSpPr>
        <p:spPr>
          <a:xfrm>
            <a:off x="804672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532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Mét lò xén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8E5B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+9,2%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818388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TH 9T/2026: tổng hợp KLM chốt 13/10/2026; KH 2027: sheet TONG_HOP. Đơn vị: than tấn/tháng, mét lò m/tháng.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lượng than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2.500.000 tấn  ·  37 lò chợ  ·  11 phân xưởng khai thác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sản lượng: lò chợ chiếm 88,7%, CGH chiếm 31,2%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120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2103120" y="269748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</a:rPr>
              <a:t>triệu tấn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5669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Nguồn sản lượng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Lò chợ CGH đồng bộ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31,2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hạng trung (PX CGH1)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430.000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17,2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hạng nhẹ (PX CGH2)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340.000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13,6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dốc (PX KT3)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giá khung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1.118.900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44,8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giá xích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162.300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6,5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giàn mềm ZRY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273.000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xén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10.700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Tổng cộng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 và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theo tháng: cao nhất tháng 6, thấp nhất tháng 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8595360" y="11887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823960" y="14447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9828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Cao nhất: tháng 6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823960" y="17830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246.908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2377440"/>
            <a:ext cx="26517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26 ngày làm việc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8595360" y="27889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823960" y="30449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09828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Thấp nhất: tháng 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151.609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23960" y="3977640"/>
            <a:ext cx="26517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16 ngày làm việc (nghỉ Tết)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595360" y="438912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823960" y="46451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098280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Bình quân ngày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49834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8.532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tấn/ngày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823960" y="55778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Dao động 7.545 – 9.496 tấn/ngày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(lịch thực hiện theo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theo quý: tập trung cao nhất quý II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685800"/>
                <a:gridCol w="1005840"/>
                <a:gridCol w="594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Quý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Tổng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năm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Lũy kế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lũy kế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623.127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623.127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675.825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27,0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1.298.952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606.124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1.905.076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76,2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IV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594.924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23,8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Cả năm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498080" y="4023360"/>
            <a:ext cx="4114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Mục tiêu điều hành: hết quý II đạt 52,0% khối lượng năm (1.298.952 tấn).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(than đào, xén tạm phân bổ đều 100 tấn chênh lệch vào 12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giao 11 phân xưởng khai thác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40080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132320" y="1188720"/>
            <a:ext cx="448056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360920" y="14447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352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11 PX khai thác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360920" y="17830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2.270.000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377440"/>
            <a:ext cx="41148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90,8% sản lượng Công ty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132320" y="2788920"/>
            <a:ext cx="448056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360920" y="30449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3524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PX CGH1 + PX CGH2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33832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780.700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977640"/>
            <a:ext cx="41148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31,2% sản lượng Công ty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132320" y="4389120"/>
            <a:ext cx="44805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46451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635240" y="45720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đào lò của PX đào lò, XLM, thuê ngoài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49834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360920" y="5577840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9,2% sản lượng Công ty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TH_PX2027.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tiêu sản lượng và công nghệ theo phân xưởng khai thác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80160"/>
                <a:gridCol w="1143000"/>
                <a:gridCol w="1143000"/>
                <a:gridCol w="1005840"/>
                <a:gridCol w="731520"/>
                <a:gridCol w="2057400"/>
                <a:gridCol w="1143000"/>
                <a:gridCol w="123444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KH 2027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Lò chợ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Đào, xén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Số lò chợ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BQ tháng KH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BQ tháng TH 9T/2026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Tăng (%)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170.100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14.917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11.344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+31,5%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165.000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162.300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13.750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13.868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-0,9%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125.100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115.400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Giàn ZRY, Giá khung, CGH dốc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10.425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11.646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-10,5%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181.800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179.900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15.150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18.429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-17,8%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130.400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128.000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Giàn ZRY, 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10.867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13.589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-20,0%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14.692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16.283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-9,8%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346.100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340.000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28.842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23.563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+22,4%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434.600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430.000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36.217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40.202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-9,9%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173.700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9.833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+49,5%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178.600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4.500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15.258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16.272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-6,2%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172.200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168.300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14.350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8.987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+59,7%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2.270.000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53.700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189.167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184.016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+2,8%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TH_PX2027, TH_G.KHOAN, KH_LC;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khai thác 37 lò chợ năm 2027 (1/2)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84280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1600200"/>
                <a:gridCol w="1051560"/>
                <a:gridCol w="978408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9144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N-8-3/V8-KN(D2)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170.100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N-6-5/V6KN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58.700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N-6-5.1/V6KN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N-6-5/V6KN(GD2)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92.100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N-10-2.2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N-10-2A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31.300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N-9-1B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26.100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N-9-1C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TT-11-10B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dốc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38.500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36.000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N-6-10.1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N-6-11.1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ĐB-14-4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87.800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88.000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N-6-8B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12.400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N-6-12.2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34.700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N-6-12.3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ĐB-12-3A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6089904"/>
            <a:ext cx="201168" cy="164592"/>
          </a:xfrm>
          <a:prstGeom prst="rect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467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khung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2743200" y="6089904"/>
            <a:ext cx="201168" cy="1645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99923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xích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937760" y="6089904"/>
            <a:ext cx="201168" cy="164592"/>
          </a:xfrm>
          <a:prstGeom prst="rect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9379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Giàn ZRY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132320" y="6089904"/>
            <a:ext cx="201168" cy="164592"/>
          </a:xfrm>
          <a:prstGeom prst="rect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8835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CGH (đồng bộ, dốc)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60350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Ô màu: sản lượng tháng (nghìn tấn)  ·  Nguồn: sheet KH_LC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khai thác 37 lò chợ năm 2027 (2/2)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84280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1600200"/>
                <a:gridCol w="1051560"/>
                <a:gridCol w="978408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9144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ĐB-11-4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21.100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ĐB-11-5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29.000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TT9-10V9KTT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114.800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TT9-11/V9KTT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44.500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TT9-12B/V9KTT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10,7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33.600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39,0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35,1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38,2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37,8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46,8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TT-5-4A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TT-6-5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74.100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223.700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TT-12-7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53.000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TT-11-10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125.600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TT-8-3C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TT-8-4 ( GD1)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56.800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TT-8-4 ( GD2)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98.300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53.700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6089904"/>
            <a:ext cx="201168" cy="164592"/>
          </a:xfrm>
          <a:prstGeom prst="rect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467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khung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2743200" y="6089904"/>
            <a:ext cx="201168" cy="1645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99923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xích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937760" y="6089904"/>
            <a:ext cx="201168" cy="164592"/>
          </a:xfrm>
          <a:prstGeom prst="rect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9379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Giàn ZRY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132320" y="6089904"/>
            <a:ext cx="201168" cy="164592"/>
          </a:xfrm>
          <a:prstGeom prst="rect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8835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CGH (đồng bộ, dốc)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60350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Ô màu: sản lượng tháng (nghìn tấn)  ·  Nguồn: sheet KH_LC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Lò chợ CGH: 780.000 tấn, 31,2% sản lượng Công ty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731520"/>
                <a:gridCol w="731520"/>
                <a:gridCol w="1371600"/>
                <a:gridCol w="1097280"/>
                <a:gridCol w="10972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Lc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mv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QIV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Chuyển 2028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TT-11-10B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88.300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54.000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101.400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2,55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129.600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3,97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192.100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202.200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175.000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210.700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211.100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548640" y="45720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7240" y="482803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51560" y="47548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hạng trung - PX CGH1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1663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760720"/>
            <a:ext cx="315468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 lò chợ TT-12-6, TT-8-13, TT-8-17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4297680" y="45720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26280" y="482803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00600" y="47548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hạng nhẹ - PX CGH2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51663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5760720"/>
            <a:ext cx="315468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 lò chợ TT-9-8A, TT-9-9, TT-10-16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046720" y="45720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482803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54964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dốc - PX KT3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5166360"/>
            <a:ext cx="3200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5760720"/>
            <a:ext cx="320040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Lò chợ TT-11-10B, tháng 12/2027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Diện CGH dự phòng và trữ lượng chuyển tiếp sang năm 2028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  <a:gridCol w="1325880"/>
                <a:gridCol w="123444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Nhóm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Trữ lượng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Huy động 2027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Ghi chú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249.000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TT-9-12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223.100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223.100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TT-5-5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254.400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254.400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TT-4-1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TT-4-2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144.300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TT-10-18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84.000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84.000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ĐB-14-6A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569.000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569.000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TT-8-20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8412480" y="1188720"/>
            <a:ext cx="320040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641080" y="14447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CGH1 chuyển 2028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178308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1.145.300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4108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Huy động 2027: 430.000 tấn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8412480" y="2834640"/>
            <a:ext cx="320040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641080" y="309067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91540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CGH2 chuyển 2028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641080" y="342900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1.011.600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4023360"/>
            <a:ext cx="2834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Huy động 2027: 340.000 tấn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412480" y="448056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41080" y="473659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915400" y="466344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Chuyển tiếp sang 2028 (tất cả công nghệ)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507492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lò chợ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641080" y="5669280"/>
            <a:ext cx="283464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Sản lượng còn lại 818.600 tấn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DIEN_DP và KH_LC (cột W).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đào lò, xén lò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25.400 m lò đào CBSX  ·  7.500 m lò xén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mét lò đào: 66,8% lò than, 89,3% chống sắt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18872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280160"/>
          <a:ext cx="3474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than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66,8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đá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33,2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sắt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22.692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89,3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neo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gỗ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952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CGH combai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5,9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bán CGH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1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Tiết diện bình quân: lò đá 16,96 m², lò than 13,21 m².</a:t>
            </a:r>
            <a:endParaRPr lang="en-US" sz="14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đào theo tháng: giảm mạnh trong quý IV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280160"/>
          <a:ext cx="3017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Quý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năm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6.460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7.250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28,5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6.693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26,4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4.997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19,7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Cả năm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8595360" y="3931920"/>
            <a:ext cx="3017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Quý IV chỉ 4.997 m (19,7% năm), thấp nhất trong năm: cần chủ động chuẩn bị diện cho năm 2028.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đào theo đơn vị: 6 PX đào lò đảm nhận 54,8%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909560" y="14447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8388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6 phân xưởng đào lò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13.922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909560" y="23774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54,8% tổng mét lò đào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909560" y="304495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Cty XLM + thuê ngoài TKV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33832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39776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25,6% · XLM 3.000 m, TN 3.500 m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680960" y="43891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909560" y="46451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838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11 PX khai thác tự đào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49834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4.978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557784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19,6% tổng mét lò đào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TH_PX2027 và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tiêu đào, xén lò theo phân xưởng đào lò và đơn vị ngoài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51560"/>
                <a:gridCol w="1051560"/>
                <a:gridCol w="1097280"/>
                <a:gridCol w="1371600"/>
                <a:gridCol w="1280160"/>
                <a:gridCol w="14173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 đào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đá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than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 xén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Than đào, xén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BQ tháng KH 2027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BQ tháng TH 9T/2026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Tăng (%)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CGĐB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2.885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2.350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45.700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240,4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132,4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+81,6%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BCG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1.766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1.216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147,2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108,6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+35,6%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2.411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668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1.743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32.400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200,9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146,2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+37,4%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1.965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185,4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160,7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+15,4%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2.273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638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1.635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30.600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189,4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214,0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-11,5%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2.362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2.002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196,8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159,4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+23,5%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250,0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2.867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37.500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291,7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20.422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7.802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12.620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5.240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230.000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</a:rPr>
              <a:t>TH 9T/2026 của Cty XLM và thuê ngoài theo mã đơn vị khác (HL1, PTH, QN, VN) nên không so sánh trực tiếp.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TH_PX2027, TH_G.KHOAN;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đường lò đào trọng điểm năm 2027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4754880"/>
                <a:gridCol w="822960"/>
                <a:gridCol w="82296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Đường lò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Sđ (m²)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Chống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Đá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Than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Tổng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N-7-7/V7-KN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567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đặt ray -250 khu N.I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CGĐB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TT-4-1 (EBH)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580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DVTG chợ N-8a-1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TT-9-5A/V9-KTT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505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N-8a-1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XV mức -250 khu ĐB.II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TT-7-4/V7-KTT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BCG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Thượng TG mức -250/-100/V7-KTT.IV (Hạ)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N-6-13/V6-KN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DVTG chợ TT-7-6/V7-KTT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431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KT1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BX+ DVVT chợ N-8-4A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309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 12 đường lò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2.354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4.197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6.551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KH_ĐL. 12 đường lò chiếm 25,8% tổng mét lò đào.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xén: 7.500 m, thuê ngoài đảm nhận 38,2%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909560" y="144475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8388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Thuê ngoài TKV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2.867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909560" y="23774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38,2% tổng mét lò xén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909560" y="30449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Tự làm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33832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4.633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39776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61,8% tổng mét lò xén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680960" y="43891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909560" y="4645152"/>
            <a:ext cx="201168" cy="201168"/>
          </a:xfrm>
          <a:prstGeom prst="ellipse">
            <a:avLst/>
          </a:prstGeom>
          <a:solidFill>
            <a:srgbClr val="8C99A8"/>
          </a:solidFill>
          <a:ln w="12700">
            <a:solidFill>
              <a:srgbClr val="8C99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838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Xén trong đá / trong than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49834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4.086 / 3.414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557784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54,5% / 45,5%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TONG_HOP, TH_PX2027,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thách thức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Những điểm cần tập trung điều hành từ số liệu kế hoạch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Những thách thức chính khi thực hiện kế hoạch 2027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17320"/>
            <a:ext cx="457200" cy="45720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Nhịp sản xuất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7556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BQ tháng 2027 phải tăng +3,3% (than), +4,7% (mét đào), +9,2% (mét xén) so với BQ 9T/2026.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188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1417320"/>
            <a:ext cx="457200" cy="457200"/>
          </a:xfrm>
          <a:prstGeom prst="ellipse">
            <a:avLst/>
          </a:prstGeom>
          <a:solidFill>
            <a:srgbClr val="8E5BA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Lò chợ giàn ZRY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7556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KH 12.925 tấn/tháng, cao hơn BQ 9T/2026 (9.143 tấn/tháng) +41,4%; 8 lò chợ ZRY phân tán ở PX KT3, KT5.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01752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 cơ giới hóa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3558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KH combai 1.500 m, chống neo 1.756 m; 9T/2026 chỉ đạt 459,9 m combai và 861,6 m chống neo.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72200" y="2788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3017520"/>
            <a:ext cx="457200" cy="45720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008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Chuyển diện, chuẩn bị diện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3558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37 lò chợ, nhiều diện kết thúc và chuyển diện trong năm; 12 lò chợ chuyển tiếp 2028 (818.600 tấn).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3891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5B6B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 quý IV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417320" y="49560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Quý IV chỉ 4.997 m (19,7% năm) trong khi phải chuẩn bị diện cho năm 2028.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172200" y="43891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461772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00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Phụ thuộc thuê ngoài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040880" y="49560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Thuê ngoài TKV và Cty XLM đảm nhận 6.500 m đào (25,6%) và 2.867 m xén (38,2%).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sản lượng BQ tháng theo phân xưởng so với 9T/2026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4980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229600" y="118872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58200" y="1325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Cần ưu tiên kiểm soát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458200" y="1828800"/>
            <a:ext cx="3017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11: +59,7%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9: +49,5%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1: +31,5%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58200" y="3474720"/>
            <a:ext cx="3017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Các phân xưởng này cần được bảo đảm diện khai thác, thiết bị, lao động và kiểm tra tiến độ hàng tuần ngay từ quý I.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và tổ chức thực hiện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Đề xuất của Phòng KCM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kỹ thuật - công nghệ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Khai thác lò chợ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Duy trì 6 lò chợ CGH đạt 780.000 tấn; đưa lò chợ CGH dốc TT-11-10B vào khai thác đúng tháng 12/2027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Hoàn thiện hộ chiếu, phương án kỹ thuật các lò chợ mới trước khi chuyển diện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Kiểm soát độ tro: khai thác chọn lọc, hạn chế lẫn đá vách, trụ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3716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Tăng tỷ lệ chống neo (1.756 m), đào combai (1.500 m), bán CGH (1.600 m)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Ưu tiên các đường lò chuẩn bị diện thay thế và diện năm 2028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Bảo đảm tiến độ 12 đường lò trọng điểm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371600"/>
            <a:ext cx="502920" cy="50292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75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An toàn - kỹ thuật mỏ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Thông gió, kiểm soát khí mỏ theo từng diện mới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Thoát nước, phòng chống ngập mùa mưa bão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Phòng ngừa than tự cháy tại các lò chợ kết thúc, tháo thu hồi thiết bị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tổ chức sản xuất và điều hành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Giao kế hoạch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Giao kế hoạch quý, tháng chi tiết đến từng phân xưởng, từng lò chợ, đường lò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Phân bổ đủ ngày công cho tháng 2 và các tháng cao điểm quý II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371600"/>
            <a:ext cx="502920" cy="50292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Chuyển diện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Lập lịch chuyển diện cho 37 lò chợ, chuẩn bị thiết bị, vật tư trước tối thiểu 1 tháng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Bố trí diện dự phòng (N-6a-1.1, 1.2, 1.3 PX KT5; diện CGH dự phòng)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3716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75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Kiểm tra, đánh giá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Giao ban tuần đánh giá sản lượng, mét lò theo từng phân xưởng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Đánh giá tháng, điều chỉnh kịp thời khi có biến động điều kiện địa chất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công tổ chức thực hiện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Nhiệm vụ chính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KCM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Lập, giao kế hoạch tháng/quý; thiết kế, hộ chiếu kỹ thuật; theo dõi, tổng hợp khối lượng mỏ; thông gió, khí mỏ, thoát nước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Điều khiển sản xuất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Điều hành sản xuất hàng ngày; phối hợp vận tải, cung ứng giữa các phân xưởng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Cơ điện - Vận tải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Bảo đảm thiết bị CGH, combai, máy xúc, băng tải; lắp đặt, tháo chuyển thiết bị khi chuyển diện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Vật tư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Cung ứng vì chống, neo, giàn chống, vật tư nổ mìn đúng tiến độ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An toàn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Kiểm tra an toàn diện khai thác, đào lò; giám sát phòng chống mưa bão, ngập lò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11 PX khai thác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Thực hiện sản lượng giao; đào, xén lò trong phạm vi phân xưởng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6 PX đào lò, XLM, thuê ngoài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Bảo đảm tiến độ đường lò chuẩn bị diện, đặc biệt 12 đường lò trọng điểm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Tên và nhiệm vụ các phòng là đề xuất, đề nghị điều chỉnh theo quy chế phân công của Công ty.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Quyết tâm hoàn thành kế hoạch năm 2027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EE8"/>
                </a:solidFill>
              </a:rPr>
              <a:t>2.500.000 tấn than  ·  25.400 m lò đào  ·  7.500 m lò xén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trân trọng cảm ơn!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ongHuy KH2027">
  <a:themeElements>
    <a:clrScheme name="DuongHuy KH2027">
      <a:dk1>
        <a:srgbClr val="1B2533"/>
      </a:dk1>
      <a:lt1>
        <a:srgbClr val="FFFFFF"/>
      </a:lt1>
      <a:dk2>
        <a:srgbClr val="14213D"/>
      </a:dk2>
      <a:lt2>
        <a:srgbClr val="EEF2F6"/>
      </a:lt2>
      <a:accent1>
        <a:srgbClr val="1F5C99"/>
      </a:accent1>
      <a:accent2>
        <a:srgbClr val="2A9D8F"/>
      </a:accent2>
      <a:accent3>
        <a:srgbClr val="8E5BA8"/>
      </a:accent3>
      <a:accent4>
        <a:srgbClr val="E39B2D"/>
      </a:accent4>
      <a:accent5>
        <a:srgbClr val="5B6B7F"/>
      </a:accent5>
      <a:accent6>
        <a:srgbClr val="C0392B"/>
      </a:accent6>
      <a:hlink>
        <a:srgbClr val="1F5C99"/>
      </a:hlink>
      <a:folHlink>
        <a:srgbClr val="8E5BA8"/>
      </a:folHlink>
    </a:clrScheme>
    <a:fontScheme name="DuongHuy KH2027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Công ty than Dương Huy - TKV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sản xuất năm 2027</dc:title>
  <dc:subject>PptxGenJS Presentation</dc:subject>
  <dc:creator>Phòng KCM</dc:creator>
  <cp:lastModifiedBy>Phòng KCM</cp:lastModifiedBy>
  <cp:revision>1</cp:revision>
  <dcterms:created xsi:type="dcterms:W3CDTF">2026-10-23T05:52:13Z</dcterms:created>
  <dcterms:modified xsi:type="dcterms:W3CDTF">2026-10-23T05:52:13Z</dcterms:modified>
</cp:coreProperties>
</file>