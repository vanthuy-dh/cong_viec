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Than NK hầm lò (tấn)</c:v>
                </c:pt>
              </c:strCache>
            </c:strRef>
          </c:tx>
          <c:spPr>
            <a:solidFill>
              <a:srgbClr val="0B2A4A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230349.65</c:v>
                </c:pt>
                <c:pt idx="1">
                  <c:v>143953.79</c:v>
                </c:pt>
                <c:pt idx="2">
                  <c:v>248107.76</c:v>
                </c:pt>
                <c:pt idx="3">
                  <c:v>246601.9</c:v>
                </c:pt>
                <c:pt idx="4">
                  <c:v>200000.12</c:v>
                </c:pt>
                <c:pt idx="5">
                  <c:v>190986.3</c:v>
                </c:pt>
                <c:pt idx="6">
                  <c:v>179667.01</c:v>
                </c:pt>
                <c:pt idx="7">
                  <c:v>184530.49</c:v>
                </c:pt>
                <c:pt idx="8">
                  <c:v>190415.76</c:v>
                </c:pt>
              </c:numCache>
            </c:numRef>
          </c:val>
        </c:ser>
        <c:gapWidth val="55"/>
        <c:axId val="-2068027336"/>
        <c:axId val="-211399444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BQ tháng theo KH năm QĐ 2675</c:v>
                </c:pt>
              </c:strCache>
            </c:strRef>
          </c:tx>
          <c:spPr>
            <a:ln w="31750">
              <a:solidFill>
                <a:srgbClr val="E8A317"/>
              </a:solidFill>
              <a:prstDash val="dash"/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208333.33</c:v>
                </c:pt>
                <c:pt idx="1">
                  <c:v>208333.33</c:v>
                </c:pt>
                <c:pt idx="2">
                  <c:v>208333.33</c:v>
                </c:pt>
                <c:pt idx="3">
                  <c:v>208333.33</c:v>
                </c:pt>
                <c:pt idx="4">
                  <c:v>208333.33</c:v>
                </c:pt>
                <c:pt idx="5">
                  <c:v>208333.33</c:v>
                </c:pt>
                <c:pt idx="6">
                  <c:v>208333.33</c:v>
                </c:pt>
                <c:pt idx="7">
                  <c:v>208333.33</c:v>
                </c:pt>
                <c:pt idx="8">
                  <c:v>208333.33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80000.0"/>
          <c:min val="0.0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 lũy kế</c:v>
                </c:pt>
              </c:strCache>
            </c:strRef>
          </c:tx>
          <c:spPr>
            <a:ln w="31750">
              <a:solidFill>
                <a:srgbClr val="0B2A4A"/>
              </a:solidFill>
            </a:ln>
          </c:spPr>
          <c:marker>
            <c:spPr>
              <a:solidFill>
                <a:srgbClr val="0B2A4A"/>
              </a:solidFill>
              <a:ln>
                <a:solidFill>
                  <a:srgbClr val="0B2A4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230349.65</c:v>
                </c:pt>
                <c:pt idx="1">
                  <c:v>374303.44</c:v>
                </c:pt>
                <c:pt idx="2">
                  <c:v>622411.19</c:v>
                </c:pt>
                <c:pt idx="3">
                  <c:v>869013.09</c:v>
                </c:pt>
                <c:pt idx="4">
                  <c:v>1069013.21</c:v>
                </c:pt>
                <c:pt idx="5">
                  <c:v>1259999.51</c:v>
                </c:pt>
                <c:pt idx="6">
                  <c:v>1439666.52</c:v>
                </c:pt>
                <c:pt idx="7">
                  <c:v>1624197.01</c:v>
                </c:pt>
                <c:pt idx="8">
                  <c:v>1814612.77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 lũy kế (phân bổ đều)</c:v>
                </c:pt>
              </c:strCache>
            </c:strRef>
          </c:tx>
          <c:spPr>
            <a:ln w="31750">
              <a:solidFill>
                <a:srgbClr val="E8A317"/>
              </a:solidFill>
              <a:prstDash val="dash"/>
            </a:ln>
          </c:spPr>
          <c:marker>
            <c:spPr>
              <a:solidFill>
                <a:srgbClr val="E8A317"/>
              </a:solidFill>
              <a:ln>
                <a:solidFill>
                  <a:srgbClr val="E8A317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208333.33</c:v>
                </c:pt>
                <c:pt idx="1">
                  <c:v>416666.67</c:v>
                </c:pt>
                <c:pt idx="2">
                  <c:v>625000.0</c:v>
                </c:pt>
                <c:pt idx="3">
                  <c:v>833333.33</c:v>
                </c:pt>
                <c:pt idx="4">
                  <c:v>1041666.67</c:v>
                </c:pt>
                <c:pt idx="5">
                  <c:v>1250000.0</c:v>
                </c:pt>
                <c:pt idx="6">
                  <c:v>1458333.33</c:v>
                </c:pt>
                <c:pt idx="7">
                  <c:v>1666666.67</c:v>
                </c:pt>
                <c:pt idx="8">
                  <c:v>1875000.0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Lò đá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724.8</c:v>
                </c:pt>
                <c:pt idx="1">
                  <c:v>445.9</c:v>
                </c:pt>
                <c:pt idx="2">
                  <c:v>806.1</c:v>
                </c:pt>
                <c:pt idx="3">
                  <c:v>743</c:v>
                </c:pt>
                <c:pt idx="4">
                  <c:v>502.9</c:v>
                </c:pt>
                <c:pt idx="5">
                  <c:v>687.3</c:v>
                </c:pt>
                <c:pt idx="6">
                  <c:v>630.9</c:v>
                </c:pt>
                <c:pt idx="7">
                  <c:v>792.65</c:v>
                </c:pt>
                <c:pt idx="8">
                  <c:v>876.1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Lò than</c:v>
                </c:pt>
              </c:strCache>
            </c:strRef>
          </c:tx>
          <c:spPr>
            <a:solidFill>
              <a:srgbClr val="8FB3DB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1574.5</c:v>
                </c:pt>
                <c:pt idx="1">
                  <c:v>1007</c:v>
                </c:pt>
                <c:pt idx="2">
                  <c:v>1562.1</c:v>
                </c:pt>
                <c:pt idx="3">
                  <c:v>1199.2</c:v>
                </c:pt>
                <c:pt idx="4">
                  <c:v>1460.5</c:v>
                </c:pt>
                <c:pt idx="5">
                  <c:v>1186.8</c:v>
                </c:pt>
                <c:pt idx="6">
                  <c:v>976.1</c:v>
                </c:pt>
                <c:pt idx="7">
                  <c:v>1442.75</c:v>
                </c:pt>
                <c:pt idx="8">
                  <c:v>1583.8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BQ tháng theo KH QĐ 2675</c:v>
                </c:pt>
              </c:strCache>
            </c:strRef>
          </c:tx>
          <c:spPr>
            <a:ln w="31750">
              <a:solidFill>
                <a:srgbClr val="E8A317"/>
              </a:solidFill>
              <a:prstDash val="dash"/>
            </a:ln>
          </c:spPr>
          <c:marker>
            <c:symbol val="none"/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2185.83</c:v>
                </c:pt>
                <c:pt idx="1">
                  <c:v>2185.83</c:v>
                </c:pt>
                <c:pt idx="2">
                  <c:v>2185.83</c:v>
                </c:pt>
                <c:pt idx="3">
                  <c:v>2185.83</c:v>
                </c:pt>
                <c:pt idx="4">
                  <c:v>2185.83</c:v>
                </c:pt>
                <c:pt idx="5">
                  <c:v>2185.83</c:v>
                </c:pt>
                <c:pt idx="6">
                  <c:v>2185.83</c:v>
                </c:pt>
                <c:pt idx="7">
                  <c:v>2185.83</c:v>
                </c:pt>
                <c:pt idx="8">
                  <c:v>2185.83</c:v>
                </c:pt>
              </c:numCache>
            </c:numRef>
          </c:val>
          <c:smooth val="0"/>
        </c:ser>
        <c:marker val="1"/>
        <c:axId val="-2068027336"/>
        <c:axId val="-2113994440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 lũy kế</c:v>
                </c:pt>
              </c:strCache>
            </c:strRef>
          </c:tx>
          <c:spPr>
            <a:ln w="31750">
              <a:solidFill>
                <a:srgbClr val="0B2A4A"/>
              </a:solidFill>
            </a:ln>
          </c:spPr>
          <c:marker>
            <c:spPr>
              <a:solidFill>
                <a:srgbClr val="0B2A4A"/>
              </a:solidFill>
              <a:ln>
                <a:solidFill>
                  <a:srgbClr val="0B2A4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2299.3</c:v>
                </c:pt>
                <c:pt idx="1">
                  <c:v>3752.2</c:v>
                </c:pt>
                <c:pt idx="2">
                  <c:v>6120.4</c:v>
                </c:pt>
                <c:pt idx="3">
                  <c:v>8062.6</c:v>
                </c:pt>
                <c:pt idx="4">
                  <c:v>10026.0</c:v>
                </c:pt>
                <c:pt idx="5">
                  <c:v>11900.1</c:v>
                </c:pt>
                <c:pt idx="6">
                  <c:v>13507.1</c:v>
                </c:pt>
                <c:pt idx="7">
                  <c:v>15742.5</c:v>
                </c:pt>
                <c:pt idx="8">
                  <c:v>18202.4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KH lũy kế (phân bổ đều)</c:v>
                </c:pt>
              </c:strCache>
            </c:strRef>
          </c:tx>
          <c:spPr>
            <a:ln w="31750">
              <a:solidFill>
                <a:srgbClr val="E8A317"/>
              </a:solidFill>
              <a:prstDash val="dash"/>
            </a:ln>
          </c:spPr>
          <c:marker>
            <c:spPr>
              <a:solidFill>
                <a:srgbClr val="E8A317"/>
              </a:solidFill>
              <a:ln>
                <a:solidFill>
                  <a:srgbClr val="E8A317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2185.83</c:v>
                </c:pt>
                <c:pt idx="1">
                  <c:v>4371.67</c:v>
                </c:pt>
                <c:pt idx="2">
                  <c:v>6557.5</c:v>
                </c:pt>
                <c:pt idx="3">
                  <c:v>8743.33</c:v>
                </c:pt>
                <c:pt idx="4">
                  <c:v>10929.17</c:v>
                </c:pt>
                <c:pt idx="5">
                  <c:v>13115.0</c:v>
                </c:pt>
                <c:pt idx="6">
                  <c:v>15300.83</c:v>
                </c:pt>
                <c:pt idx="7">
                  <c:v>17486.67</c:v>
                </c:pt>
                <c:pt idx="8">
                  <c:v>19672.5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Xén trong đá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439.85</c:v>
                </c:pt>
                <c:pt idx="1">
                  <c:v>216.15</c:v>
                </c:pt>
                <c:pt idx="2">
                  <c:v>392.2</c:v>
                </c:pt>
                <c:pt idx="3">
                  <c:v>340.8</c:v>
                </c:pt>
                <c:pt idx="4">
                  <c:v>214.7</c:v>
                </c:pt>
                <c:pt idx="5">
                  <c:v>473.6</c:v>
                </c:pt>
                <c:pt idx="6">
                  <c:v>497.7</c:v>
                </c:pt>
                <c:pt idx="7">
                  <c:v>451.5</c:v>
                </c:pt>
                <c:pt idx="8">
                  <c:v>388.85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Xén trong than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222.75</c:v>
                </c:pt>
                <c:pt idx="1">
                  <c:v>210.05</c:v>
                </c:pt>
                <c:pt idx="2">
                  <c:v>242.0</c:v>
                </c:pt>
                <c:pt idx="3">
                  <c:v>201.3</c:v>
                </c:pt>
                <c:pt idx="4">
                  <c:v>81.1</c:v>
                </c:pt>
                <c:pt idx="5">
                  <c:v>215.9</c:v>
                </c:pt>
                <c:pt idx="6">
                  <c:v>75</c:v>
                </c:pt>
                <c:pt idx="7">
                  <c:v>290.7</c:v>
                </c:pt>
                <c:pt idx="8">
                  <c:v>196.55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Tỷ trọng</c:v>
                </c:pt>
              </c:strCache>
            </c:strRef>
          </c:tx>
          <c:dPt>
            <c:idx val="0"/>
            <c:spPr>
              <a:solidFill>
                <a:srgbClr val="0B2A4A"/>
              </a:solidFill>
            </c:spPr>
          </c:dPt>
          <c:dPt>
            <c:idx val="1"/>
            <c:spPr>
              <a:solidFill>
                <a:srgbClr val="2E6DB4"/>
              </a:solidFill>
            </c:spPr>
          </c:dPt>
          <c:dPt>
            <c:idx val="2"/>
            <c:spPr>
              <a:solidFill>
                <a:srgbClr val="E8A317"/>
              </a:solidFill>
            </c:spPr>
          </c:dPt>
          <c:dPt>
            <c:idx val="3"/>
            <c:spPr>
              <a:solidFill>
                <a:srgbClr val="8FB3DB"/>
              </a:solidFill>
            </c:spPr>
          </c:dPt>
          <c:dPt>
            <c:idx val="4"/>
            <c:spPr>
              <a:solidFill>
                <a:srgbClr val="C0392B"/>
              </a:solidFill>
            </c:spPr>
          </c:dPt>
          <c:dPt>
            <c:idx val="5"/>
            <c:spPr>
              <a:solidFill>
                <a:srgbClr val="5B6775"/>
              </a:solidFill>
            </c:spPr>
          </c:dPt>
          <c:dPt>
            <c:idx val="6"/>
            <c:spPr>
              <a:solidFill>
                <a:srgbClr val="1E8E5A"/>
              </a:solidFill>
            </c:spPr>
          </c:dPt>
          <c:dLbls>
            <c:numFmt formatCode="0.0%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Giá khung, giá xích</c:v>
                </c:pt>
                <c:pt idx="1">
                  <c:v>CGH hạng trung</c:v>
                </c:pt>
                <c:pt idx="2">
                  <c:v>Than đào lò CBSX</c:v>
                </c:pt>
                <c:pt idx="3">
                  <c:v>CGH hạng nhẹ</c:v>
                </c:pt>
                <c:pt idx="4">
                  <c:v>Giàn mềm ZRY</c:v>
                </c:pt>
                <c:pt idx="5">
                  <c:v>Than xén, hạ nền</c:v>
                </c:pt>
                <c:pt idx="6">
                  <c:v>DVPT, ngang nghiêng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0.4874</c:v>
                </c:pt>
                <c:pt idx="1">
                  <c:v>0.217</c:v>
                </c:pt>
                <c:pt idx="2">
                  <c:v>0.1271</c:v>
                </c:pt>
                <c:pt idx="3">
                  <c:v>0.0943</c:v>
                </c:pt>
                <c:pt idx="4">
                  <c:v>0.0453</c:v>
                </c:pt>
                <c:pt idx="5">
                  <c:v>0.0202</c:v>
                </c:pt>
                <c:pt idx="6">
                  <c:v>0.0087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latin typeface="Arial"/>
        </a:defRPr>
      </a:pPr>
      <a:endParaRPr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CGH hạng trung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57997.54</c:v>
                </c:pt>
                <c:pt idx="1">
                  <c:v>36258.81</c:v>
                </c:pt>
                <c:pt idx="2">
                  <c:v>55250.32</c:v>
                </c:pt>
                <c:pt idx="3">
                  <c:v>50754.9</c:v>
                </c:pt>
                <c:pt idx="4">
                  <c:v>8552.71</c:v>
                </c:pt>
                <c:pt idx="5">
                  <c:v>18726.75</c:v>
                </c:pt>
                <c:pt idx="6">
                  <c:v>52365.07</c:v>
                </c:pt>
                <c:pt idx="7">
                  <c:v>61607.37</c:v>
                </c:pt>
                <c:pt idx="8">
                  <c:v>52207.4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CGH hạng nhẹ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3487.29</c:v>
                </c:pt>
                <c:pt idx="1">
                  <c:v>9209.7</c:v>
                </c:pt>
                <c:pt idx="2">
                  <c:v>37251.23</c:v>
                </c:pt>
                <c:pt idx="3">
                  <c:v>42612.22</c:v>
                </c:pt>
                <c:pt idx="4">
                  <c:v>48039.96</c:v>
                </c:pt>
                <c:pt idx="5">
                  <c:v>30493.7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Giá khung, giá xích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116989</c:v>
                </c:pt>
                <c:pt idx="1">
                  <c:v>65527.39</c:v>
                </c:pt>
                <c:pt idx="2">
                  <c:v>107456.01</c:v>
                </c:pt>
                <c:pt idx="3">
                  <c:v>115411.28</c:v>
                </c:pt>
                <c:pt idx="4">
                  <c:v>103097.61</c:v>
                </c:pt>
                <c:pt idx="5">
                  <c:v>104016.68</c:v>
                </c:pt>
                <c:pt idx="6">
                  <c:v>95387.56</c:v>
                </c:pt>
                <c:pt idx="7">
                  <c:v>81443.22</c:v>
                </c:pt>
                <c:pt idx="8">
                  <c:v>95157.03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Giàn mềm ZRY</c:v>
                </c:pt>
              </c:strCache>
            </c:strRef>
          </c:tx>
          <c:spPr>
            <a:ln w="31750">
              <a:solidFill>
                <a:srgbClr val="C0392B"/>
              </a:solidFill>
            </a:ln>
          </c:spPr>
          <c:marker>
            <c:spPr>
              <a:solidFill>
                <a:srgbClr val="C0392B"/>
              </a:solidFill>
              <a:ln>
                <a:solidFill>
                  <a:srgbClr val="C0392B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16825.27</c:v>
                </c:pt>
                <c:pt idx="1">
                  <c:v>10164.9</c:v>
                </c:pt>
                <c:pt idx="2">
                  <c:v>12675.71</c:v>
                </c:pt>
                <c:pt idx="3">
                  <c:v>7571.53</c:v>
                </c:pt>
                <c:pt idx="4">
                  <c:v>9555.63</c:v>
                </c:pt>
                <c:pt idx="5">
                  <c:v>8660.73</c:v>
                </c:pt>
                <c:pt idx="6">
                  <c:v>4964.8</c:v>
                </c:pt>
                <c:pt idx="7">
                  <c:v>4922.51</c:v>
                </c:pt>
                <c:pt idx="8">
                  <c:v>6942.31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DVPT, ngang nghiêng</c:v>
                </c:pt>
              </c:strCache>
            </c:strRef>
          </c:tx>
          <c:spPr>
            <a:ln w="31750">
              <a:solidFill>
                <a:srgbClr val="1E8E5A"/>
              </a:solidFill>
            </a:ln>
          </c:spPr>
          <c:marker>
            <c:spPr>
              <a:solidFill>
                <a:srgbClr val="1E8E5A"/>
              </a:solidFill>
              <a:ln>
                <a:solidFill>
                  <a:srgbClr val="1E8E5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432.2</c:v>
                </c:pt>
                <c:pt idx="1">
                  <c:v>839.6</c:v>
                </c:pt>
                <c:pt idx="2">
                  <c:v>0</c:v>
                </c:pt>
                <c:pt idx="3">
                  <c:v>677.82</c:v>
                </c:pt>
                <c:pt idx="4">
                  <c:v>264.4</c:v>
                </c:pt>
                <c:pt idx="5">
                  <c:v>1844.88</c:v>
                </c:pt>
                <c:pt idx="6">
                  <c:v>2398.61</c:v>
                </c:pt>
                <c:pt idx="7">
                  <c:v>6365.74</c:v>
                </c:pt>
                <c:pt idx="8">
                  <c:v>2933.08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Than đào lò CBSX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31203.18</c:v>
                </c:pt>
                <c:pt idx="1">
                  <c:v>18438.3</c:v>
                </c:pt>
                <c:pt idx="2">
                  <c:v>30601.61</c:v>
                </c:pt>
                <c:pt idx="3">
                  <c:v>24995.37</c:v>
                </c:pt>
                <c:pt idx="4">
                  <c:v>26806.77</c:v>
                </c:pt>
                <c:pt idx="5">
                  <c:v>23121.66</c:v>
                </c:pt>
                <c:pt idx="6">
                  <c:v>20333.75</c:v>
                </c:pt>
                <c:pt idx="7">
                  <c:v>25542.62</c:v>
                </c:pt>
                <c:pt idx="8">
                  <c:v>29649.04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Than xén lò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2906.39</c:v>
                </c:pt>
                <c:pt idx="1">
                  <c:v>2872.2</c:v>
                </c:pt>
                <c:pt idx="2">
                  <c:v>3837.77</c:v>
                </c:pt>
                <c:pt idx="3">
                  <c:v>4251.41</c:v>
                </c:pt>
                <c:pt idx="4">
                  <c:v>1816.16</c:v>
                </c:pt>
                <c:pt idx="5">
                  <c:v>3617.76</c:v>
                </c:pt>
                <c:pt idx="6">
                  <c:v>3353.51</c:v>
                </c:pt>
                <c:pt idx="7">
                  <c:v>4224.7</c:v>
                </c:pt>
                <c:pt idx="8">
                  <c:v>3323.87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Than hạ nền</c:v>
                </c:pt>
              </c:strCache>
            </c:strRef>
          </c:tx>
          <c:spPr>
            <a:solidFill>
              <a:srgbClr val="8FB3DB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508.78</c:v>
                </c:pt>
                <c:pt idx="1">
                  <c:v>642.89</c:v>
                </c:pt>
                <c:pt idx="2">
                  <c:v>1035.11</c:v>
                </c:pt>
                <c:pt idx="3">
                  <c:v>327.37</c:v>
                </c:pt>
                <c:pt idx="4">
                  <c:v>1866.88</c:v>
                </c:pt>
                <c:pt idx="5">
                  <c:v>504.14</c:v>
                </c:pt>
                <c:pt idx="6">
                  <c:v>863.71</c:v>
                </c:pt>
                <c:pt idx="7">
                  <c:v>424.33</c:v>
                </c:pt>
                <c:pt idx="8">
                  <c:v>203.03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Chống sắt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2141.0</c:v>
                </c:pt>
                <c:pt idx="1">
                  <c:v>1266.9</c:v>
                </c:pt>
                <c:pt idx="2">
                  <c:v>1958.8</c:v>
                </c:pt>
                <c:pt idx="3">
                  <c:v>1711.6</c:v>
                </c:pt>
                <c:pt idx="4">
                  <c:v>1718.5</c:v>
                </c:pt>
                <c:pt idx="5">
                  <c:v>1822.1</c:v>
                </c:pt>
                <c:pt idx="6">
                  <c:v>1595.3</c:v>
                </c:pt>
                <c:pt idx="7">
                  <c:v>2113.5</c:v>
                </c:pt>
                <c:pt idx="8">
                  <c:v>2454.3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Chống neo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106.3</c:v>
                </c:pt>
                <c:pt idx="1">
                  <c:v>56</c:v>
                </c:pt>
                <c:pt idx="2">
                  <c:v>239.2</c:v>
                </c:pt>
                <c:pt idx="3">
                  <c:v>226.4</c:v>
                </c:pt>
                <c:pt idx="4">
                  <c:v>176.1</c:v>
                </c:pt>
                <c:pt idx="5">
                  <c:v>52</c:v>
                </c:pt>
                <c:pt idx="6">
                  <c:v>0</c:v>
                </c:pt>
                <c:pt idx="7">
                  <c:v>0</c:v>
                </c:pt>
                <c:pt idx="8">
                  <c:v>5.6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Chống gỗ</c:v>
                </c:pt>
              </c:strCache>
            </c:strRef>
          </c:tx>
          <c:spPr>
            <a:solidFill>
              <a:srgbClr val="5B6775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52</c:v>
                </c:pt>
                <c:pt idx="1">
                  <c:v>130</c:v>
                </c:pt>
                <c:pt idx="2">
                  <c:v>170.2</c:v>
                </c:pt>
                <c:pt idx="3">
                  <c:v>4.2</c:v>
                </c:pt>
                <c:pt idx="4">
                  <c:v>68.8</c:v>
                </c:pt>
                <c:pt idx="5">
                  <c:v>0</c:v>
                </c:pt>
                <c:pt idx="6">
                  <c:v>11.7</c:v>
                </c:pt>
                <c:pt idx="7">
                  <c:v>121.9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Combai EBH-45</c:v>
                </c:pt>
              </c:strCache>
            </c:strRef>
          </c:tx>
          <c:spPr>
            <a:solidFill>
              <a:srgbClr val="E8A317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</c:v>
                </c:pt>
                <c:pt idx="1">
                  <c:v>81.2</c:v>
                </c:pt>
                <c:pt idx="2">
                  <c:v>128.8</c:v>
                </c:pt>
                <c:pt idx="3">
                  <c:v>98.7</c:v>
                </c:pt>
                <c:pt idx="4">
                  <c:v>116.2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Bán CGH (xe khoan + máy xúc)</c:v>
                </c:pt>
              </c:strCache>
            </c:strRef>
          </c:tx>
          <c:spPr>
            <a:solidFill>
              <a:srgbClr val="0B2A4A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64.5</c:v>
                </c:pt>
                <c:pt idx="1">
                  <c:v>62.5</c:v>
                </c:pt>
                <c:pt idx="2">
                  <c:v>196.5</c:v>
                </c:pt>
                <c:pt idx="3">
                  <c:v>122</c:v>
                </c:pt>
                <c:pt idx="4">
                  <c:v>105.5</c:v>
                </c:pt>
                <c:pt idx="5">
                  <c:v>168</c:v>
                </c:pt>
                <c:pt idx="6">
                  <c:v>120</c:v>
                </c:pt>
                <c:pt idx="7">
                  <c:v>92.5</c:v>
                </c:pt>
                <c:pt idx="8">
                  <c:v>95.5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Tự làm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1929.2</c:v>
                </c:pt>
                <c:pt idx="1">
                  <c:v>1295.2</c:v>
                </c:pt>
                <c:pt idx="2">
                  <c:v>2074.9</c:v>
                </c:pt>
                <c:pt idx="3">
                  <c:v>1668.5</c:v>
                </c:pt>
                <c:pt idx="4">
                  <c:v>1697.6</c:v>
                </c:pt>
                <c:pt idx="5">
                  <c:v>1563.1</c:v>
                </c:pt>
                <c:pt idx="6">
                  <c:v>1385.5</c:v>
                </c:pt>
                <c:pt idx="7">
                  <c:v>2054.2</c:v>
                </c:pt>
                <c:pt idx="8">
                  <c:v>2022.9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Thuê ngoài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Sheet1!$A$2:$A$10</c:f>
              <c:strCache>
                <c:ptCount val="9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370.1</c:v>
                </c:pt>
                <c:pt idx="1">
                  <c:v>157.7</c:v>
                </c:pt>
                <c:pt idx="2">
                  <c:v>293.3</c:v>
                </c:pt>
                <c:pt idx="3">
                  <c:v>273.7</c:v>
                </c:pt>
                <c:pt idx="4">
                  <c:v>265.8</c:v>
                </c:pt>
                <c:pt idx="5">
                  <c:v>311</c:v>
                </c:pt>
                <c:pt idx="6">
                  <c:v>221.5</c:v>
                </c:pt>
                <c:pt idx="7">
                  <c:v>181.2</c:v>
                </c:pt>
                <c:pt idx="8">
                  <c:v>437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KH năm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C0392B"/>
              </a:solidFill>
            </c:spPr>
          </c:dPt>
          <c:dPt>
            <c:idx val="3"/>
            <c:spPr>
              <a:solidFill>
                <a:srgbClr val="1E8E5A"/>
              </a:solidFill>
            </c:spPr>
          </c:dPt>
          <c:dPt>
            <c:idx val="4"/>
            <c:spPr>
              <a:solidFill>
                <a:srgbClr val="1E8E5A"/>
              </a:solidFill>
            </c:spPr>
          </c:dPt>
          <c:dLbls>
            <c:numFmt formatCode="0.0&quot;%&quot;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Đổ bê tông</c:v>
                </c:pt>
                <c:pt idx="1">
                  <c:v>Khoan ép hóa chất</c:v>
                </c:pt>
                <c:pt idx="2">
                  <c:v>Khoan ép vữa xi măng</c:v>
                </c:pt>
                <c:pt idx="3">
                  <c:v>Chống đội, đánh khuôn</c:v>
                </c:pt>
                <c:pt idx="4">
                  <c:v>Khoan neo cáp gia cố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</c:v>
                </c:pt>
                <c:pt idx="1">
                  <c:v>3.33</c:v>
                </c:pt>
                <c:pt idx="2">
                  <c:v>46.79</c:v>
                </c:pt>
                <c:pt idx="3">
                  <c:v>111.4</c:v>
                </c:pt>
                <c:pt idx="4">
                  <c:v>216.13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  <c:min val="0.0"/>
        </c:scaling>
        <c:delete val="0"/>
        <c:axPos val="b"/>
        <c:majorGridlines>
          <c:spPr>
            <a:ln>
              <a:solidFill>
                <a:srgbClr val="E4E8EE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Than NK (tấn)</c:v>
                </c:pt>
              </c:strCache>
            </c:strRef>
          </c:tx>
          <c:spPr>
            <a:solidFill>
              <a:srgbClr val="0B2A4A"/>
            </a:solidFill>
          </c:spPr>
          <c:dPt>
            <c:idx val="9"/>
            <c:spPr>
              <a:solidFill>
                <a:srgbClr val="E8A317"/>
              </a:solidFill>
            </c:spPr>
          </c:dPt>
          <c:dPt>
            <c:idx val="10"/>
            <c:spPr>
              <a:solidFill>
                <a:srgbClr val="E8A317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9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PX11 (Than 11)</c:v>
                </c:pt>
                <c:pt idx="1">
                  <c:v>PX9 (Than 9)</c:v>
                </c:pt>
                <c:pt idx="2">
                  <c:v>PX1 (Than 1)</c:v>
                </c:pt>
                <c:pt idx="3">
                  <c:v>PX3 (Than 3)</c:v>
                </c:pt>
                <c:pt idx="4">
                  <c:v>PX5 (Than 5)</c:v>
                </c:pt>
                <c:pt idx="5">
                  <c:v>PX2 (Than 2)</c:v>
                </c:pt>
                <c:pt idx="6">
                  <c:v>PX10 (Than 10)</c:v>
                </c:pt>
                <c:pt idx="7">
                  <c:v>PX6 (Than 6)</c:v>
                </c:pt>
                <c:pt idx="8">
                  <c:v>PX4 (Than 8)</c:v>
                </c:pt>
                <c:pt idx="9">
                  <c:v>PX7 (CGH2)</c:v>
                </c:pt>
                <c:pt idx="10">
                  <c:v>PX8 (CGH1)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80879.4</c:v>
                </c:pt>
                <c:pt idx="1">
                  <c:v>88497.48</c:v>
                </c:pt>
                <c:pt idx="2">
                  <c:v>102096.46</c:v>
                </c:pt>
                <c:pt idx="3">
                  <c:v>104814.85</c:v>
                </c:pt>
                <c:pt idx="4">
                  <c:v>122300</c:v>
                </c:pt>
                <c:pt idx="5">
                  <c:v>124812.23</c:v>
                </c:pt>
                <c:pt idx="6">
                  <c:v>146446.82</c:v>
                </c:pt>
                <c:pt idx="7">
                  <c:v>146543.18</c:v>
                </c:pt>
                <c:pt idx="8">
                  <c:v>165862.19</c:v>
                </c:pt>
                <c:pt idx="9">
                  <c:v>212071.38</c:v>
                </c:pt>
                <c:pt idx="10">
                  <c:v>361820.57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20000.0"/>
        </c:scaling>
        <c:delete/>
        <c:axPos val="b"/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Lò đá</c:v>
                </c:pt>
              </c:strCache>
            </c:strRef>
          </c:tx>
          <c:spPr>
            <a:solidFill>
              <a:srgbClr val="0B2A4A"/>
            </a:solidFill>
          </c:spPr>
          <c:cat>
            <c:strRef>
              <c:f>Sheet1!$A$2:$A$7</c:f>
              <c:strCache>
                <c:ptCount val="6"/>
                <c:pt idx="0">
                  <c:v>PX12
CGĐB</c:v>
                </c:pt>
                <c:pt idx="1">
                  <c:v>PX13
BCG</c:v>
                </c:pt>
                <c:pt idx="2">
                  <c:v>PX14
ĐL3</c:v>
                </c:pt>
                <c:pt idx="3">
                  <c:v>PX15
ĐL1</c:v>
                </c:pt>
                <c:pt idx="4">
                  <c:v>PX16
ĐL5</c:v>
                </c:pt>
                <c:pt idx="5">
                  <c:v>PX17
ĐL6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478.05</c:v>
                </c:pt>
                <c:pt idx="1">
                  <c:v>917.4</c:v>
                </c:pt>
                <c:pt idx="2">
                  <c:v>162.7</c:v>
                </c:pt>
                <c:pt idx="3">
                  <c:v>311.3</c:v>
                </c:pt>
                <c:pt idx="4">
                  <c:v>346.3</c:v>
                </c:pt>
                <c:pt idx="5">
                  <c:v>258.6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Lò than</c:v>
                </c:pt>
              </c:strCache>
            </c:strRef>
          </c:tx>
          <c:spPr>
            <a:solidFill>
              <a:srgbClr val="8FB3DB"/>
            </a:solidFill>
          </c:spPr>
          <c:cat>
            <c:strRef>
              <c:f>Sheet1!$A$2:$A$7</c:f>
              <c:strCache>
                <c:ptCount val="6"/>
                <c:pt idx="0">
                  <c:v>PX12
CGĐB</c:v>
                </c:pt>
                <c:pt idx="1">
                  <c:v>PX13
BCG</c:v>
                </c:pt>
                <c:pt idx="2">
                  <c:v>PX14
ĐL3</c:v>
                </c:pt>
                <c:pt idx="3">
                  <c:v>PX15
ĐL1</c:v>
                </c:pt>
                <c:pt idx="4">
                  <c:v>PX16
ĐL5</c:v>
                </c:pt>
                <c:pt idx="5">
                  <c:v>PX17
ĐL6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713.45</c:v>
                </c:pt>
                <c:pt idx="1">
                  <c:v>59.7</c:v>
                </c:pt>
                <c:pt idx="2">
                  <c:v>1152.9</c:v>
                </c:pt>
                <c:pt idx="3">
                  <c:v>1135.1</c:v>
                </c:pt>
                <c:pt idx="4">
                  <c:v>1579.9</c:v>
                </c:pt>
                <c:pt idx="5">
                  <c:v>1176.1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Lò xén</c:v>
                </c:pt>
              </c:strCache>
            </c:strRef>
          </c:tx>
          <c:spPr>
            <a:solidFill>
              <a:srgbClr val="E8A317"/>
            </a:solidFill>
          </c:spPr>
          <c:cat>
            <c:strRef>
              <c:f>Sheet1!$A$2:$A$7</c:f>
              <c:strCache>
                <c:ptCount val="6"/>
                <c:pt idx="0">
                  <c:v>PX12
CGĐB</c:v>
                </c:pt>
                <c:pt idx="1">
                  <c:v>PX13
BCG</c:v>
                </c:pt>
                <c:pt idx="2">
                  <c:v>PX14
ĐL3</c:v>
                </c:pt>
                <c:pt idx="3">
                  <c:v>PX15
ĐL1</c:v>
                </c:pt>
                <c:pt idx="4">
                  <c:v>PX16
ĐL5</c:v>
                </c:pt>
                <c:pt idx="5">
                  <c:v>PX17
ĐL6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559.8</c:v>
                </c:pt>
                <c:pt idx="1">
                  <c:v>114</c:v>
                </c:pt>
                <c:pt idx="2">
                  <c:v>508.7</c:v>
                </c:pt>
                <c:pt idx="3">
                  <c:v>451</c:v>
                </c:pt>
                <c:pt idx="4">
                  <c:v>416</c:v>
                </c:pt>
                <c:pt idx="5">
                  <c:v>533.1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đào</c:v>
                </c:pt>
              </c:strCache>
            </c:strRef>
          </c:tx>
          <c:dPt>
            <c:idx val="0"/>
            <c:spPr>
              <a:solidFill>
                <a:srgbClr val="0B2A4A"/>
              </a:solidFill>
            </c:spPr>
          </c:dPt>
          <c:dPt>
            <c:idx val="1"/>
            <c:spPr>
              <a:solidFill>
                <a:srgbClr val="8FB3DB"/>
              </a:solidFill>
            </c:spPr>
          </c:dPt>
          <c:dPt>
            <c:idx val="2"/>
            <c:spPr>
              <a:solidFill>
                <a:srgbClr val="E8A317"/>
              </a:solidFill>
            </c:spPr>
          </c:dPt>
          <c:dLbls>
            <c:numFmt formatCode="#,##0.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11 PX khai thác</c:v>
                </c:pt>
                <c:pt idx="1">
                  <c:v>6 PX đào lò</c:v>
                </c:pt>
                <c:pt idx="2">
                  <c:v>Thuê ngoài, đơn vị khác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7399.6</c:v>
                </c:pt>
                <c:pt idx="1">
                  <c:v>8291.5</c:v>
                </c:pt>
                <c:pt idx="2">
                  <c:v>2511.3</c:v>
                </c:pt>
              </c:numCache>
            </c:numRef>
          </c:val>
        </c:ser>
      </c:pieChart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Than NK (tấn/tháng)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Than NK (tấn/tháng)</c:v>
                </c:pt>
              </c:strCache>
            </c:strRef>
          </c:tx>
          <c:spPr>
            <a:solidFill>
              <a:srgbClr val="0B2A4A"/>
            </a:solidFill>
          </c:spPr>
          <c:dPt>
            <c:idx val="0"/>
            <c:spPr>
              <a:solidFill>
                <a:srgbClr val="0B2A4A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E8A317"/>
              </a:solidFill>
            </c:spPr>
          </c:dPt>
          <c:dLbls>
            <c:numFmt formatCode="#,##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BQ đã đạt 9T</c:v>
                </c:pt>
                <c:pt idx="1">
                  <c:v>Cần Q.IV (QĐ 2675)</c:v>
                </c:pt>
                <c:pt idx="2">
                  <c:v>Cần Q.IV (3374)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201623.64</c:v>
                </c:pt>
                <c:pt idx="1">
                  <c:v>228462.41</c:v>
                </c:pt>
                <c:pt idx="2">
                  <c:v>245129.08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Mét lò đào (m/tháng)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đào (m/tháng)</c:v>
                </c:pt>
              </c:strCache>
            </c:strRef>
          </c:tx>
          <c:spPr>
            <a:solidFill>
              <a:srgbClr val="0B2A4A"/>
            </a:solidFill>
          </c:spPr>
          <c:dPt>
            <c:idx val="0"/>
            <c:spPr>
              <a:solidFill>
                <a:srgbClr val="0B2A4A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E8A317"/>
              </a:solidFill>
            </c:spPr>
          </c:dPt>
          <c:dLbls>
            <c:numFmt formatCode="#,##0.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BQ đã đạt 9T</c:v>
                </c:pt>
                <c:pt idx="1">
                  <c:v>Cần Q.IV (QĐ 2675)</c:v>
                </c:pt>
                <c:pt idx="2">
                  <c:v>Cần Q.IV (3374)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2022.49</c:v>
                </c:pt>
                <c:pt idx="1">
                  <c:v>2675.87</c:v>
                </c:pt>
                <c:pt idx="2">
                  <c:v>2509.2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/>
              <a:t>Mét lò xén (m/tháng)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Mét lò xén (m/tháng)</c:v>
                </c:pt>
              </c:strCache>
            </c:strRef>
          </c:tx>
          <c:spPr>
            <a:solidFill>
              <a:srgbClr val="0B2A4A"/>
            </a:solidFill>
          </c:spPr>
          <c:dPt>
            <c:idx val="0"/>
            <c:spPr>
              <a:solidFill>
                <a:srgbClr val="0B2A4A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E8A317"/>
              </a:solidFill>
            </c:spPr>
          </c:dPt>
          <c:dLbls>
            <c:numFmt formatCode="#,##0.0" sourceLinked="0"/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BQ đã đạt 9T</c:v>
                </c:pt>
                <c:pt idx="1">
                  <c:v>Cần Q.IV (QĐ 2675)</c:v>
                </c:pt>
                <c:pt idx="2">
                  <c:v>Cần Q.IV (3374)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572.3</c:v>
                </c:pt>
                <c:pt idx="1">
                  <c:v>783.1</c:v>
                </c:pt>
                <c:pt idx="2">
                  <c:v>658.1</c:v>
                </c:pt>
              </c:numCache>
            </c:numRef>
          </c:val>
        </c:ser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#,##0.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0B2A4A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Relationship Id="rId3" Type="http://schemas.openxmlformats.org/officeDocument/2006/relationships/chart" Target="../charts/chart19.xml"/><Relationship Id="rId4" Type="http://schemas.openxmlformats.org/officeDocument/2006/relationships/chart" Target="../charts/chart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E8A317"/>
                </a:solidFill>
                <a:latin typeface="Arial"/>
              </a:rPr>
              <a:t>CÔNG TY THAN DƯƠNG HUY - TKV  •  PHÒNG KỸ THUẬT CÔNG NGHỆ MỎ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BÁO CÁO KẾT QUẢ THỰC HIỆN</a:t>
            </a:r>
          </a:p>
          <a:p>
            <a:pPr algn="l">
              <a:spcAft>
                <a:spcPts val="5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KẾ HOẠCH SẢN XUẤT 9 THÁNG NĂM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7899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C9D6E6"/>
                </a:solidFill>
                <a:latin typeface="Arial"/>
              </a:rPr>
              <a:t>Đánh giá, nguyên nhân – Nhiệm vụ, giải pháp quý IV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1078992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Báo cáo Giám đốc Công ty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Trình bày: Nguyễn Văn Thúy – Trưởng phòng KCM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Quảng Ninh, tháng 10/2026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Nội dung báo cáo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05840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E8A317"/>
                </a:solidFill>
                <a:latin typeface="Arial"/>
              </a:rPr>
              <a:t>I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325880"/>
            <a:ext cx="9601200" cy="1005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435607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B2A4A"/>
                </a:solidFill>
                <a:latin typeface="Arial"/>
              </a:rPr>
              <a:t>Kết quả thực hiện các chỉ tiêu chủ yếu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856231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Sản lượng than, mét lò đào, mét lò xén; lũy kế so với tiến độ; chỉ tiêu công nghệ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1005840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E8A317"/>
                </a:solidFill>
                <a:latin typeface="Arial"/>
              </a:rPr>
              <a:t>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560320"/>
            <a:ext cx="9601200" cy="1005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2670048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B2A4A"/>
                </a:solidFill>
                <a:latin typeface="Arial"/>
              </a:rPr>
              <a:t>Kết quả theo công nghệ khai thác, đào lò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090672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Cơ cấu sản lượng, lò chợ CGH, giá khung, giàn mềm; vật liệu chống, cơ giới hóa đào lò, gia cố, tiêu hao vật tư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794760"/>
            <a:ext cx="1005840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9476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E8A317"/>
                </a:solidFill>
                <a:latin typeface="Arial"/>
              </a:rPr>
              <a:t>III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3794760"/>
            <a:ext cx="9601200" cy="1005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3904488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B2A4A"/>
                </a:solidFill>
                <a:latin typeface="Arial"/>
              </a:rPr>
              <a:t>Kết quả theo phân xưởng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4325112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11 phân xưởng khai thác, 6 phân xưởng đào lò, đơn vị thuê ngoài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1005840" cy="10058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029200"/>
            <a:ext cx="1005840" cy="10058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3000" b="1">
                <a:solidFill>
                  <a:srgbClr val="E8A317"/>
                </a:solidFill>
                <a:latin typeface="Arial"/>
              </a:rPr>
              <a:t>IV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5029200"/>
            <a:ext cx="9601200" cy="10058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5138928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B2A4A"/>
                </a:solidFill>
                <a:latin typeface="Arial"/>
              </a:rPr>
              <a:t>Tồn tại, nguyên nhân – Nhiệm vụ, giải pháp quý IV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559552"/>
            <a:ext cx="9235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Khối lượng còn lại phải thực hiện, giải pháp, kiến nghị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Căn cứ, nguồn số liệu và quy ước tính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34440"/>
            <a:ext cx="566928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B2A4A"/>
                </a:solidFill>
                <a:latin typeface="Arial"/>
              </a:rPr>
              <a:t>Căn cứ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B2A4A"/>
                </a:solidFill>
                <a:latin typeface="Arial"/>
              </a:rPr>
              <a:t>• Quyết định số 2675/QĐ-TKV của Tập đoàn TKV (kế hoạch năm 2026).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B2A4A"/>
                </a:solidFill>
                <a:latin typeface="Arial"/>
              </a:rPr>
              <a:t>• Kế hoạch số 3374/KH-TKV của Tập đoàn TKV (kế hoạch phối hợp kinh doanh năm 2026).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B2A4A"/>
                </a:solidFill>
                <a:latin typeface="Arial"/>
              </a:rPr>
              <a:t>• Phương án kỹ thuật gia cố đường lò năm 2026 số 5342/TKCM-KCM.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B2A4A"/>
                </a:solidFill>
                <a:latin typeface="Arial"/>
              </a:rPr>
              <a:t>• Bảng tổng hợp khối lượng mỏ (KLM) thực hiện tháng 01 – 9/2026, chốt ngày 13/10/2026.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234440"/>
            <a:ext cx="5440680" cy="4754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325880"/>
            <a:ext cx="512064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B2A4A"/>
                </a:solidFill>
                <a:latin typeface="Arial"/>
              </a:rPr>
              <a:t>Quy ước tính toán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Tiến độ thời gian 9 tháng = 9/12 = 75,0%.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Tỷ lệ hoàn thành (%) = TH 9 tháng ÷ KH năm × 100.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Lũy kế KH theo tháng: phân bổ đều KH năm cho 12 tháng (file không có KH tháng).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Hệ số mét lò = mét lò đào CBSX ÷ sản lượng than × 1.000.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Số liệu thực hiện: cộng tháng 1–9 (sheet TKV, PHU_LUC cột G:Q).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Làm tròn 1 chữ số thập phân; màu đỏ: dưới 75% hoặc không đạt, màu xanh: từ 75% trở lên.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3_TONG_HOP_KLM/B1.BC_TKV_T9-2026_13-10-2026_9-thang-CHOT.xlsx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E8A317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KẾT QUẢ THỰC HIỆN CÁC CHỈ TIÊU CHỦ YẾU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Tổng quan và bảng chỉ tiêu chủ yếu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Sản lượng than, mét lò đào, mét lò xén theo tháng, quý, lũy kế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Các chỉ tiêu công nghệ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Tổng quan 9 tháng: các chỉ tiêu chính chưa đạt tiến độ 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Tiến độ thời gian 9 tháng = 75,0%. Tỷ lệ % = TH 9 tháng ÷ KH năm × 100.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463040"/>
            <a:ext cx="361188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463040"/>
            <a:ext cx="82296" cy="28803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727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B6775"/>
                </a:solidFill>
                <a:latin typeface="Arial"/>
              </a:rPr>
              <a:t>THAN NGUYÊN KHAI HẦM LÒ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0B2A4A"/>
                </a:solidFill>
                <a:latin typeface="Arial"/>
              </a:rPr>
              <a:t>1.814.612,8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tấn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260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QĐ 2675: 2.500.000 tấn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880360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72,6%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27832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227832"/>
            <a:ext cx="2322994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40380" y="3172968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8444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3374: 2.550.000 tấn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538728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71,2%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886200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886200"/>
            <a:ext cx="2277445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40380" y="3831335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33672" y="1463040"/>
            <a:ext cx="361188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33672" y="1463040"/>
            <a:ext cx="82296" cy="28803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62272" y="15727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B6775"/>
                </a:solidFill>
                <a:latin typeface="Arial"/>
              </a:rPr>
              <a:t>MÉT LÒ ĐÀO CBSX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1874519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0B2A4A"/>
                </a:solidFill>
                <a:latin typeface="Arial"/>
              </a:rPr>
              <a:t>18.202,4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251460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29260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QĐ 2675: 26.230 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880360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69,4%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2272" y="3227832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62272" y="3227832"/>
            <a:ext cx="2220928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862572" y="3172968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62272" y="358444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3374: 25.730 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1112" y="3538728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70,7%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62272" y="3886200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62272" y="3886200"/>
            <a:ext cx="2264087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62572" y="3831335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55863" y="1463040"/>
            <a:ext cx="3611880" cy="2880360"/>
          </a:xfrm>
          <a:prstGeom prst="rect">
            <a:avLst/>
          </a:prstGeom>
          <a:solidFill>
            <a:srgbClr val="FFFFFF"/>
          </a:solidFill>
          <a:ln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55863" y="1463040"/>
            <a:ext cx="82296" cy="28803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3" y="1572768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5B6775"/>
                </a:solidFill>
                <a:latin typeface="Arial"/>
              </a:rPr>
              <a:t>MÉT LÒ XÉN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3" y="1874519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200" b="1">
                <a:solidFill>
                  <a:srgbClr val="0B2A4A"/>
                </a:solidFill>
                <a:latin typeface="Arial"/>
              </a:rPr>
              <a:t>5.150,7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84463" y="2514600"/>
            <a:ext cx="32918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3" y="2926080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QĐ 2675: 7.500 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33303" y="2880360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68,7%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84463" y="3227832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84463" y="3227832"/>
            <a:ext cx="2197906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84763" y="3172968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84463" y="3584448"/>
            <a:ext cx="23774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B6775"/>
                </a:solidFill>
                <a:latin typeface="Arial"/>
              </a:rPr>
              <a:t>KH 3374: 7.125 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33303" y="3538728"/>
            <a:ext cx="1143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C0392B"/>
                </a:solidFill>
                <a:latin typeface="Arial"/>
              </a:rPr>
              <a:t>72,3%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84463" y="3886200"/>
            <a:ext cx="3200400" cy="118872"/>
          </a:xfrm>
          <a:prstGeom prst="rect">
            <a:avLst/>
          </a:prstGeom>
          <a:solidFill>
            <a:srgbClr val="E4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84463" y="3886200"/>
            <a:ext cx="2313586" cy="118872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684763" y="3831335"/>
            <a:ext cx="27432" cy="2286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4572000"/>
            <a:ext cx="272491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" y="4572000"/>
            <a:ext cx="64008" cy="141732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6072" y="4645152"/>
            <a:ext cx="24963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B6775"/>
                </a:solidFill>
                <a:latin typeface="Arial"/>
              </a:rPr>
              <a:t>Độ tro BQ than NK hầm lò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6072" y="4919472"/>
            <a:ext cx="249631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C0392B"/>
                </a:solidFill>
                <a:latin typeface="Arial"/>
              </a:rPr>
              <a:t>38,1%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5532120"/>
            <a:ext cx="2496312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KH 36,5% → cao hơn 1,6 điểm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73552" y="4572000"/>
            <a:ext cx="272491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73552" y="4572000"/>
            <a:ext cx="64008" cy="141732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38144" y="4645152"/>
            <a:ext cx="24963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B6775"/>
                </a:solidFill>
                <a:latin typeface="Arial"/>
              </a:rPr>
              <a:t>Hệ số mét lò CBSX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38144" y="4919472"/>
            <a:ext cx="249631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C0392B"/>
                </a:solidFill>
                <a:latin typeface="Arial"/>
              </a:rPr>
              <a:t>10,03 m/1000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438144" y="5532120"/>
            <a:ext cx="2496312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KH 10,49 (QĐ 2675) / 10,09 (3374)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35624" y="4572000"/>
            <a:ext cx="2724912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35624" y="4572000"/>
            <a:ext cx="64008" cy="141732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00216" y="4645152"/>
            <a:ext cx="24963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B6775"/>
                </a:solidFill>
                <a:latin typeface="Arial"/>
              </a:rPr>
              <a:t>Tổn thất khai thác hầm lò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00216" y="4919472"/>
            <a:ext cx="249631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1E8E5A"/>
                </a:solidFill>
                <a:latin typeface="Arial"/>
              </a:rPr>
              <a:t>19,08%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0216" y="5532120"/>
            <a:ext cx="2496312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KH 19,14% → đạt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997696" y="4572000"/>
            <a:ext cx="2798064" cy="14173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997696" y="4572000"/>
            <a:ext cx="64008" cy="141732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62288" y="4645152"/>
            <a:ext cx="2569464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5B6775"/>
                </a:solidFill>
                <a:latin typeface="Arial"/>
              </a:rPr>
              <a:t>Bình quân than / tháng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62288" y="4919472"/>
            <a:ext cx="256946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C0392B"/>
                </a:solidFill>
                <a:latin typeface="Arial"/>
              </a:rPr>
              <a:t>201.623,6 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62288" y="5532120"/>
            <a:ext cx="2569464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Quý IV cần 228.462,4 t/tháng (QĐ 2675)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686800" y="1097280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E8A317"/>
                </a:solidFill>
                <a:latin typeface="Arial"/>
              </a:rPr>
              <a:t>▍ vạch vàng = mốc tiến độ 75%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85, 104, 114 (cộng T1–T9); sheet PHU_LUC cột E (QĐ 2675), F (3374), ô V30, V119, V131.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Bảng tổng hợp kết quả thực hiện các chỉ tiêu chủ yếu 9 tháng năm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017520"/>
                <a:gridCol w="1097280"/>
                <a:gridCol w="1463040"/>
                <a:gridCol w="1371600"/>
                <a:gridCol w="1508760"/>
                <a:gridCol w="1234440"/>
                <a:gridCol w="1234440"/>
              </a:tblGrid>
              <a:tr h="38238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ĐVT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KH năm (QĐ 2675)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KH năm (3374)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TH 9 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KH QĐ 2675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% KH 3374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Than nguyên khai hầm lò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tấn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2.500.000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2.550.000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1.814.612,8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72,6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71,2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Mét lò đào CBSX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26.230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25.730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18.202,4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69,4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70,7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  – Lò đá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8.510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8.460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6.209,65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73,0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73,4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  – Lò than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17.720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17.270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11.992,75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67,7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69,4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Mét lò xén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7.500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7.125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B2A4A"/>
                          </a:solidFill>
                          <a:latin typeface="Arial"/>
                        </a:rPr>
                        <a:t>5.150,7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68,7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72,3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  – Xén trong đá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4.062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3.860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3.415,35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8E5A"/>
                          </a:solidFill>
                          <a:latin typeface="Arial"/>
                        </a:rPr>
                        <a:t>84,1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8E5A"/>
                          </a:solidFill>
                          <a:latin typeface="Arial"/>
                        </a:rPr>
                        <a:t>88,5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  – Xén trong than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3.438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3.265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1.735,35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50,5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392B"/>
                          </a:solidFill>
                          <a:latin typeface="Arial"/>
                        </a:rPr>
                        <a:t>53,2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Hệ số mét lò CBSX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m/1000 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10,49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10,09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10,03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8E5A"/>
                          </a:solidFill>
                          <a:latin typeface="Arial"/>
                        </a:rPr>
                        <a:t>95,6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8E5A"/>
                          </a:solidFill>
                          <a:latin typeface="Arial"/>
                        </a:rPr>
                        <a:t>99,4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8238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Độ tro BQ than NK hầm lò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36,5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38,1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8E5A"/>
                          </a:solidFill>
                          <a:latin typeface="Arial"/>
                        </a:rPr>
                        <a:t>104,4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Tổn thất khai thác hầm lò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19,14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19,08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1E8E5A"/>
                          </a:solidFill>
                          <a:latin typeface="Arial"/>
                        </a:rPr>
                        <a:t>99,7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577840"/>
            <a:ext cx="113385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Lưu ý: tô màu tỷ lệ chỉ áp dụng cho chỉ tiêu khối lượng (dòng 1–3, so với mốc 75%). Độ tro 104,4% nghĩa là vượt KH (không đạt); tổn thất 99,7% là đạt.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85, 96, 100, 104, 105, 109, 114; sheet PHU_LUC cột E, F, dòng 15–97, 119, 131; ô V30.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Sản lượng than theo tháng: quý III thấp nhất, giảm 82.975,1 tấn so với quý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tấn. Đường nét đứt: bình quân tháng theo KH năm QĐ 2675 = 2.500.000 ÷ 12 = 208.333,3 tấn.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6809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463040"/>
          <a:ext cx="3474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34440"/>
                <a:gridCol w="105156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Kỳ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Than NK (tấn)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BQ/tháng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622.411,2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207.470,4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637.588,3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212.529,4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554.613,3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184.871,1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Cộng 9 tháng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1.814.612,8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201.623,6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3840480"/>
            <a:ext cx="34747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Cao nhất: tháng 3 – 248.107,8 tấn; thấp nhất: tháng 2 – 143.953,8 tấn.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Quý III giảm 82.975,1 tấn (-13,0%) so với quý II.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Từ tháng 5 đến tháng 9, sản lượng các tháng đều thấp hơn mức bình quân KH năm.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114 (Than hầm lò), cột G:O.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Lũy kế sản lượng than: đến hết tháng 9 thấp hơn tiến độ KH 60.387,2 tấn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tấn. KH lũy kế = 2.500.000 ÷ 12 × số tháng (phân bổ đều, theo QĐ 2675).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6809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463040"/>
          <a:ext cx="3474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960120"/>
                <a:gridCol w="960120"/>
                <a:gridCol w="86868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 lũy kế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 lũy kế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Chênh lệch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622.411,2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625.000,0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-2.588,8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1.259.999,5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1.250.000,0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9.999,5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1.814.612,8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1.875.000,0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-60.387,2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3429000"/>
            <a:ext cx="34747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Hết quý I: thấp hơn tiến độ 2.588,8 tấn.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Hết quý II: vượt tiến độ 9.999,5 tấn.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Hết tháng 9: thấp hơn tiến độ 60.387,2 tấn (QĐ 2675); so với KH 3374: thấp hơn tiến độ 97.887,2 tấn.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114 (cộng dồn T1–T9); KH: sheet PHU_LUC ô E15, F15.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Mét lò đào CBSX theo tháng: tháng 9 đạt 2.459,9 m – cao nhất từ đầu năm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 Mét lò đào CBSX = lò đá + lò than. Đường nét đứt: BQ tháng theo KH QĐ 2675 = 26.230 ÷ 12 = 2.185,8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6809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463040"/>
          <a:ext cx="3474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868680"/>
                <a:gridCol w="868680"/>
                <a:gridCol w="868680"/>
              </a:tblGrid>
              <a:tr h="43891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Kỳ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đào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đá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than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6.120,4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1.976,80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4.143,60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5.779,7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1.933,20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3.846,50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6.302,3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2.299,65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4.002,65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Cộng 9T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18.202,4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6.209,65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11.992,75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3840480"/>
            <a:ext cx="3474720" cy="2194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Quý III đạt 6.302,3 m – cao nhất 3 quý.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Lò đá đạt 73,0% KH; lò than đạt 67,7% KH (QĐ 2675).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Chỉ tháng 1, 3, 8, 9 đạt trên mức bình quân KH năm.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85 (mét lò đào), 96 (qua đá), 100 (qua than), cột G:O.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Lũy kế mét lò đào: hết tháng 9 thấp hơn tiến độ KH 1.470,1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 KH lũy kế = 26.230 ÷ 12 × số tháng (phân bổ đều, theo QĐ 2675).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68096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321040" y="1463040"/>
          <a:ext cx="34747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960120"/>
                <a:gridCol w="960120"/>
                <a:gridCol w="868680"/>
              </a:tblGrid>
              <a:tr h="4343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 lũy kế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 lũy kế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Chênh lệch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6.120,4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6.557,5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-437,1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11.900,1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13.115,0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-1.214,9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343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18.202,4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19.672,5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-1.470,1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321040" y="3429000"/>
            <a:ext cx="3474720" cy="2651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Hết quý I: thấp hơn tiến độ 437,1 m.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Hết quý II: thấp hơn tiến độ 1.214,9 m.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Hết tháng 9: thấp hơn tiến độ 1.470,1 m (QĐ 2675); so với KH 3374: thấp hơn tiến độ 1.095,1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85 (cộng dồn T1–T9); KH: sheet PHU_LUC ô E39, F39.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Mét lò xén: đạt 68,7% KH; xén trong than chỉ đạt 50,5%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 Mét lò xén = xén trong đá + xén trong than.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65836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1463040"/>
          <a:ext cx="45720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731520"/>
                <a:gridCol w="640080"/>
                <a:gridCol w="731520"/>
                <a:gridCol w="640080"/>
                <a:gridCol w="59436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 QĐ 2675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 3374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 9T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QĐ 2675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3374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Mét lò xén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7.500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7.125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5.150,7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68,7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72,3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– Xén trong đá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4.062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3.860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3.415,35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84,1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88,5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– Xén trong than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3.438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3.265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1.735,35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50,5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53,2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23760" y="3200400"/>
          <a:ext cx="457200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868680"/>
                <a:gridCol w="868680"/>
                <a:gridCol w="868680"/>
                <a:gridCol w="868680"/>
              </a:tblGrid>
              <a:tr h="3429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Kỳ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BQ/tháng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Lò xén (m)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1.723,0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1.527,4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1.900,3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572,3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223760" y="4069080"/>
            <a:ext cx="45720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Tháng 8 cao nhất (742,2 m); tháng 5 thấp nhất (295,8 m).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Quý III đạt 1.900,3 m – cao nhất 3 quý.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Xén trong đá vượt tiến độ (84,1%); xén trong than chậm, cần ưu tiên quý IV.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104, 105, 109, cột G:O; KH: sheet PHU_LUC dòng 92, 96, 97, cột E, 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Các chỉ tiêu công nghệ chủ yếu 9 tháng năm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So với KH theo QĐ 2675.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17320"/>
          <a:ext cx="7132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05840"/>
                <a:gridCol w="1005840"/>
                <a:gridCol w="1097280"/>
                <a:gridCol w="1005840"/>
              </a:tblGrid>
              <a:tr h="415636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ĐVT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 năm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 9 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Tỷ lệ %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Hệ số mét lò CBSX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m/1000 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10,49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10,03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95,6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Tỷ lệ lò đá / tổng lò CBSX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32,44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34,11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105,1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Tỷ lệ lò chống sắt / tổng lò CBSX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92,68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92,20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99,5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Tỷ lệ lò chống neo / tổng lò CBSX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3,81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4,73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124,2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Tỷ lệ lò chống gỗ / tổng lò CBSX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3,51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3,07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87,5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Mét lò xén / 1000 tấn than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m/1000 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3,00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2,84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94,6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Tiết diện bình quân lò đá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m²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16,97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16,90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99,6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Tiết diện bình quân lò than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m²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12,45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12,50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100,4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1563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Tổn thất khai thác hầm lò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19,14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19,08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99,7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Thể trọng than NK hầm lò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tấn/m³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1,62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1,63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100,2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1417320"/>
            <a:ext cx="40233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Hệ số mét lò 10,03 m/1000 T, thấp hơn KH (10,49) do mét lò đào chậm hơn sản lượng (69,4% so với 72,6%).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Tỷ lệ lò đá 34,11%, cao hơn KH 32,44%.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Tỷ lệ lò chống neo 4,73%, cao hơn KH 3,81% nhưng chủ yếu thực hiện trong 6 tháng đầu năm.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Tổn thất khai thác 19,08%, đạt KH (≤ 19,14%).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Tiết diện lò đá, lò than bám sát KH.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58, 62, 119–125, 131, 134 (cột E: KH, V: TH, W: tỷ lệ). Đã kiểm tra lại: 18.202,4 ÷ 1.814,6 = 10,03; 6.209,65 ÷ 18.202,4 = 34,11%.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E8A317"/>
                </a:solidFill>
                <a:latin typeface="Arial"/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KẾT QUẢ THEO CÔNG NGHỆ KHAI THÁC, ĐÀO LÒ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Cơ cấu sản lượng theo công nghệ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Lò chợ cơ giới hóa, giá khung – giá xích, giàn mềm, DVPT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Đào lò theo vật liệu chống, cơ giới hóa; tự làm – thuê ngoài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Gia cố đường lò; tiêu hao vật tư chủ yếu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Cơ cấu sản lượng than 9 tháng theo 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Tỷ trọng % = sản lượng công nghệ ÷ tổng sản lượng × 100; % KH so với QĐ 2675.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274320" y="1325880"/>
          <a:ext cx="512064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691640" y="2971800"/>
            <a:ext cx="22860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Tổng</a:t>
            </a:r>
          </a:p>
          <a:p>
            <a:pPr algn="ctr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1.814.612,8 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0" y="1417320"/>
          <a:ext cx="6126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51560"/>
                <a:gridCol w="1188720"/>
                <a:gridCol w="822960"/>
                <a:gridCol w="1051560"/>
              </a:tblGrid>
              <a:tr h="37592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Công nghệ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KH năm (t)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 9T (t)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Tỷ trọng %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Giá khung, giá xích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1.269.200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884.485,8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69,7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48,7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CGH hạng trung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426.000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393.720,9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92,4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21,7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Than đào lò CBSX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302.680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230.692,3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76,2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CGH hạng nhẹ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306.000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171.094,1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55,9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9,4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Giàn mềm ZRY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167.000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82.283,4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49,3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Than xén, hạ nền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14.120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36.580,0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259,1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DVPT, ngang nghiêng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15.000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15.756,3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E8E5A"/>
                          </a:solidFill>
                          <a:latin typeface="Arial"/>
                        </a:rPr>
                        <a:t>105,0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Tổng cộng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2.500.000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1.814.612,8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Arial"/>
                        </a:rPr>
                        <a:t>72,6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100,0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0" y="4937760"/>
            <a:ext cx="6126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Than lò chợ chiếm 85,3% sản lượng; riêng giá khung, giá xích 48,7%.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Than xén, hạ nền vượt 2,6 lần KH năm do mét lò xén qua than, hạ nền phát sinh nhiều.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21–28 (cột G:Q, E); sheet TKV dòng 116–119.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Lò chợ cơ giới hóa: đạt 77,2% KH; CGH hạng nhẹ dừng từ tháng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tấn. KH năm: CGH hạng trung 426.000 t; CGH hạng nhẹ 306.000 t (QĐ 2675).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3152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55279" y="1463040"/>
          <a:ext cx="3840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/>
                <a:gridCol w="1005840"/>
                <a:gridCol w="960120"/>
                <a:gridCol w="100584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Kỳ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Hạng trung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Hạng nhẹ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Cộng CGH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149.506,7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49.948,2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199.454,9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78.034,4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121.145,9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199.180,2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166.179,8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166.179,8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9 tháng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393.720,9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171.094,1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564.815,0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92,4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55,9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77,2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4023360"/>
            <a:ext cx="384048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CGH hạng trung đạt 92,4% KH năm – đã vượt tiến độ.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Tháng 5, 6 CGH hạng trung giảm mạnh (8.552,7 t; 18.726,8 t).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CGH hạng nhẹ không có sản lượng tháng 7, 8, 9.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20–22, cột G:Q; sheet TKV dòng 193 (PX7 CGH2: 207.793,0 t; PX8 CGH1: 357.021,9 t).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Lò chợ giá khung, giá xích đạt 69,7%; giàn mềm ZRY đạt 49,3% KH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tấn. Biểu đồ trái: giá khung, giá xích; biểu đồ phải: giàn mềm ZRY và DVPT, ngang nghiêng.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566928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417320"/>
          <a:ext cx="5623560" cy="33832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4892040"/>
          <a:ext cx="113842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280160"/>
                <a:gridCol w="1463040"/>
                <a:gridCol w="1463040"/>
                <a:gridCol w="1463040"/>
                <a:gridCol w="1691640"/>
                <a:gridCol w="1645920"/>
              </a:tblGrid>
              <a:tr h="2971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Công nghệ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 năm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9 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Giá khung, giá xích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1.269.200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289.972,4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322.525,6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271.987,8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884.485,8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69,7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Giàn mềm ZRY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167.000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39.665,9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25.787,9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16.829,6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82.283,4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49,3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DVPT, ngang nghiêng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15.000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1.271,8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2.787,1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11.697,4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15.756,3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105,0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23, 24, 25, cột G:Q, E. Lò chợ giàn mềm ZRY do PX3 thực hiện (sheet TKV ô I192).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Than đào lò CBSX đạt 76,2% KH; than xén, hạ nền vượt KH năm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tấn.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17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73152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955279" y="1463040"/>
          <a:ext cx="3840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77240"/>
                <a:gridCol w="914400"/>
                <a:gridCol w="68580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 năm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 9T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Than đào lò CBSX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302.680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230.692,3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76,2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Than xén lò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30.203,8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Than hạ nền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6.376,2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Cộng xén + hạ nền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14.120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36.580,0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259,1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955279" y="3657600"/>
            <a:ext cx="384048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Than đào lò bình quân 12,7 tấn/m lò đào CBSX.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Tháng 9 than đào lò đạt 29.649,0 t, cao nhất từ tháng 4.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KH than xén, hạ nền chỉ 14.120 t – đề nghị xem lại khi lập KH năm 2027.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116, 117, 118, cột G:O; KH: sheet PHU_LUC ô E27, E28. Than/m lò = 230.692,3 ÷ 18.202,4.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Mét lò đào theo vật liệu chống: chống neo gần như dừng trong quý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 So với KH năm theo QĐ 2675.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60350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29400" y="1463040"/>
          <a:ext cx="5166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40080"/>
                <a:gridCol w="640080"/>
                <a:gridCol w="640080"/>
                <a:gridCol w="640080"/>
                <a:gridCol w="777240"/>
                <a:gridCol w="6858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Vật liệu chống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KH năm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 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Chống sắt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24.310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5.366,7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5.252,2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6.163,1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16.782,0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Arial"/>
                        </a:rPr>
                        <a:t>69,0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Chống neo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401,5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454,5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5,6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861,6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E8E5A"/>
                          </a:solidFill>
                          <a:latin typeface="Arial"/>
                        </a:rPr>
                        <a:t>86,2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Chống gỗ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352,2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73,0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133,6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558,8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Arial"/>
                        </a:rPr>
                        <a:t>60,7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B2A4A"/>
                          </a:solidFill>
                          <a:latin typeface="Arial"/>
                        </a:rPr>
                        <a:t>Cộng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A4A"/>
                          </a:solidFill>
                          <a:latin typeface="Arial"/>
                        </a:rPr>
                        <a:t>26.230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A4A"/>
                          </a:solidFill>
                          <a:latin typeface="Arial"/>
                        </a:rPr>
                        <a:t>6.120,4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A4A"/>
                          </a:solidFill>
                          <a:latin typeface="Arial"/>
                        </a:rPr>
                        <a:t>5.779,7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A4A"/>
                          </a:solidFill>
                          <a:latin typeface="Arial"/>
                        </a:rPr>
                        <a:t>6.302,3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0B2A4A"/>
                          </a:solidFill>
                          <a:latin typeface="Arial"/>
                        </a:rPr>
                        <a:t>18.202,4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Arial"/>
                        </a:rPr>
                        <a:t>69,4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29400" y="3520440"/>
            <a:ext cx="5166360" cy="2560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Chống neo: quý I 401,5 m, quý II 454,5 m, quý III chỉ 5,6 m (tháng 9).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Lò chống neo 9 tháng đạt 86,2% KH năm nhờ khối lượng 6 tháng đầu năm.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Lò chống sắt chiếm 92,2% tổng mét lò đào.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66–69, cột G:Q, E. Lò chống sắt = tổng mét lò đào − chống neo − chống gỗ.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Cơ giới hóa đào lò: combai EBH-45 dừng từ tháng 6, bán CGH đạt 87,0% KH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 EBH-45: đào CGH đồng bộ lò than (PX12 – CGĐB); bán CGH: xe khoan + máy xúc (PX13 – BCG và HL1).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19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463040"/>
          <a:ext cx="420624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685800"/>
                <a:gridCol w="777240"/>
                <a:gridCol w="685800"/>
                <a:gridCol w="822960"/>
              </a:tblGrid>
              <a:tr h="3962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 năm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 9T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BQ/tháng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Combai EBH-45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1.200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459,9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38,3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51,1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Bán CGH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1.180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1.027,0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87,0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114,1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2880360"/>
            <a:ext cx="4206240" cy="3200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EBH-45 thực hiện 459,9 m trong tháng 1–5; tháng 6–9 không có khối lượng.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Để đạt KH năm, quý IV EBH-45 phải đào 740,1 m (246,7 m/tháng).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Bán CGH ổn định, BQ 114,1 m/tháng; còn 153,0 m để đạt KH năm.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Tỷ lệ đào lò cơ giới hóa (EBH + bán CGH) = 8,2% tổng mét lò đào.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64, 65, cột G:Q, E; sheet TKV dòng 205, 206 (theo phân xưởng).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Đào lò tự làm 86,2%, thuê ngoài 13,8%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65836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223760" y="146304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868680"/>
                <a:gridCol w="822960"/>
                <a:gridCol w="777240"/>
              </a:tblGrid>
              <a:tr h="402336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Tự làm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Thuê ngoài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Cộng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% thuê ngoài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Mét lò đào CBSX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15.691,1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2.511,3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18.202,4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13,8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– Lò đá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4.201,95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2.007,7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6.209,65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32,3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– Lò than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11.489,15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503,6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11.992,75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Mét lò xén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4.379,7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771,0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5.150,7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223760" y="3657600"/>
            <a:ext cx="45720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Thuê ngoài tập trung đào lò đá: 32,3% khối lượng lò đá.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Tháng 9 thuê ngoài đạt 437,0 m, cao nhất từ đầu năm.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Đơn vị thuê ngoài: HL1, PTH, QN, VN.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40–41, 56–57, 60–61, 93–94 (cộng cột G:Q). Lưu ý: ô V56, V57, V60, V61 không khớp cộng tháng – báo cáo dùng số cộng tháng (khớp sheet TKV ô AF/AG 167, 171).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Gia cố đường lò: neo cáp, chống đội vượt KH; ép vữa, ép hóa chất, bê tông chậm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m. So với PA kỹ thuật gia cố đường lò năm 2026 số 5342/TKCM-KCM.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21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54864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080760" y="1463040"/>
          <a:ext cx="57150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640080"/>
                <a:gridCol w="640080"/>
                <a:gridCol w="640080"/>
                <a:gridCol w="640080"/>
                <a:gridCol w="777240"/>
                <a:gridCol w="6858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Hạng mục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KH năm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Quý 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Quý 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Quý III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9 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% KH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Khoan neo cáp gia cố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750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922,8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455,2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243,0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1.621,0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E8E5A"/>
                          </a:solidFill>
                          <a:latin typeface="Arial"/>
                        </a:rPr>
                        <a:t>216,1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Chống đội, đánh khuôn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1.000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631,9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354,3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127,8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1.114,0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E8E5A"/>
                          </a:solidFill>
                          <a:latin typeface="Arial"/>
                        </a:rPr>
                        <a:t>111,4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Khoan ép vữa xi măng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184,5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93,5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49,5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327,5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Arial"/>
                        </a:rPr>
                        <a:t>46,8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Khoan ép hóa chất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Đổ bê tông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1.100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C039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Chống dặm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41,4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47,4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0B2A4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80760" y="4206240"/>
            <a:ext cx="571500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0B2A4A"/>
                </a:solidFill>
                <a:latin typeface="Arial"/>
              </a:rPr>
              <a:t>• Quý III: ép vữa 49,5 m, ép hóa chất 0 m, đổ bê tông 0 m.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0B2A4A"/>
                </a:solidFill>
                <a:latin typeface="Arial"/>
              </a:rPr>
              <a:t>• Khối lượng neo cáp, chống đội giảm mạnh trong tháng 8, 9.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0B2A4A"/>
                </a:solidFill>
                <a:latin typeface="Arial"/>
              </a:rPr>
              <a:t>• Ô cột V sheet PHU_LUC ghi tay (neo cáp 1.800; ép vữa 500; chống đội 1.300; ép HC 175; bê tông 625) không khớp cộng tháng – báo cáo dùng số cộng tháng.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110–115, cột G:Q, E; đối chiếu sheet TKV dòng 130, 131, 136–138.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Tiêu hao vật tư chủ yếu 9 tháng năm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So với định mức KH năm (QĐ 2675). Tỷ lệ &lt; 100% là tiết kiệm so với KH.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17320"/>
          <a:ext cx="7132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188720"/>
                <a:gridCol w="1005840"/>
                <a:gridCol w="1188720"/>
                <a:gridCol w="1097280"/>
              </a:tblGrid>
              <a:tr h="351692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Vật tư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ĐVT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KH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 9 tháng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Tỷ lệ %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Thuốc nổ trong hầm lò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kg/10³T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209,80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153,00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72,9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  – Khai thác lò chợ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kg/10³T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94,03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71,07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75,6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  – Đào lò than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kg/m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6,40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4,37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68,3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  – Đào lò đá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kg/m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22,26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14,88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66,9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Gỗ khai thác hầm lò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m3/10³T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7,68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6,27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81,6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  – Lò chợ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m3/10³T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5,32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4,77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89,7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  – Lò CBSX chống gỗ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m3/m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0,65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77,1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  – Lò CBSX chống sắt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m3/m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0,25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0,16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63,5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Thép chống lò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kg/m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522,00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530,20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C0392B"/>
                          </a:solidFill>
                          <a:latin typeface="Arial"/>
                        </a:rPr>
                        <a:t>101,6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Điện năng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KW/10³T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25,56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24,67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96,5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1692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Dầu nhũ hóa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Lít/10³T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127,80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111,42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87,2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696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Lưới thép B50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kg/10³T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561,60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406,07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1E8E5A"/>
                          </a:solidFill>
                          <a:latin typeface="Arial"/>
                        </a:rPr>
                        <a:t>72,3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0" y="1417320"/>
            <a:ext cx="4023360" cy="2926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Thuốc nổ, gỗ, điện năng, dầu nhũ hóa, lưới thép đều thấp hơn định mức KH.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Thép chống lò 530,2 kg/m, vượt KH 522 kg/m (101,6%).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Thuốc nổ hầm lò 153,0 kg/10³T, bằng 72,9% KH.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4480560"/>
            <a:ext cx="4023360" cy="1554480"/>
          </a:xfrm>
          <a:prstGeom prst="rect">
            <a:avLst/>
          </a:prstGeom>
          <a:solidFill>
            <a:srgbClr val="FDF3DC"/>
          </a:solidFill>
          <a:ln>
            <a:solidFill>
              <a:srgbClr val="E8A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4526280"/>
            <a:ext cx="379476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B2A4A"/>
                </a:solidFill>
                <a:latin typeface="Arial"/>
              </a:rPr>
              <a:t>Lưu ý độ tin cậy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0B2A4A"/>
                </a:solidFill>
                <a:latin typeface="Arial"/>
              </a:rPr>
              <a:t>Các ô tiêu hao trong sheet PHU_LUC (cột V) không có số chi tiết tháng để đối chiếu; một số ô tháng báo lỗi #VALUE!/#REF!. Đề nghị bộ phận vật tư xác nhận trước khi dùng chính thức.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PHU_LUC dòng 143–156 (cột D: ĐVT, E: KH, V: TH, W: tỷ lệ).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E8A317"/>
                </a:solidFill>
                <a:latin typeface="Arial"/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KẾT QUẢ THEO PHÂN XƯỞNG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11 phân xưởng khai thác: sản lượng, cơ cấu công nghệ lò chợ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6 phân xưởng đào lò và đơn vị thuê ngoài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Lưu ý: file chưa có KH giao theo phân xưởng nên chưa đánh giá % hoàn thành từng đơn vị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Sản lượng than 11 phân xưởng khai thác: 1.656.144,6 tấn = 91,3% sản lượng Công 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Đơn vị: tấn, lũy kế 9 tháng. Màu vàng: 2 phân xưởng cơ giới hóa.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24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694944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589520" y="1463040"/>
          <a:ext cx="4206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1188720"/>
              </a:tblGrid>
              <a:tr h="339634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Phân xưởng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Than NK (t)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Tỷ trọng %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PX8 (CGH1)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361.820,6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19,9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PX7 (CGH2)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212.071,4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PX4 (Than 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165.862,2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PX6 (Than 6)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146.543,2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3963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PX10 (Than 10)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146.446,8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Cộng 11 PX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1.656.144,6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91,3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4023360"/>
            <a:ext cx="420624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PX8 (CGH1) và PX7 (CGH2) đạt 573.891,9 t, chiếm 31,6% sản lượng Công ty.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Thấp nhất: PX11 (80.879,4 t), PX9 (88.497,5 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185, cột G:Q (bảng tổng hợp theo PX; tiêu đề ghi "8 tháng" nhưng số là lũy kế 9 tháng, đã đối chiếu khớp tổng).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Phân xưởng khai thác: sản lượng lò chợ theo công nghệ, mét lò đào, mét lò xén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Lũy kế 9 tháng. Đơn vị: tấn,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371600"/>
          <a:ext cx="113842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325880"/>
                <a:gridCol w="1325880"/>
                <a:gridCol w="1371600"/>
                <a:gridCol w="1188720"/>
                <a:gridCol w="1005840"/>
                <a:gridCol w="960120"/>
                <a:gridCol w="1325880"/>
                <a:gridCol w="1280160"/>
              </a:tblGrid>
              <a:tr h="34114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Phân xưởng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Than NK (t)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chợ (t)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Giá khung, xích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CGH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ZRY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DVPT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đào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xén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 (Than 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102.096,5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89.481,8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86.412,1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3.069,7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994,8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65,0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PX2 (Than 2)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124.812,2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117.331,3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116.142,7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1.188,5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591,1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137,9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PX3 (Than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104.814,8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89.376,1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82.283,4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7.092,7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972,6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230,0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PX4 (Than 8)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165.862,2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155.934,9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155.934,9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807,0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185,9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PX5 (Than 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122.300,0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111.326,1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110.234,3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1.091,8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962,4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134,2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PX6 (Than 6)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146.543,2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140.093,6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138.821,8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1.271,8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367,5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299,4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PX7 (CGH2)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212.071,4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207.793,0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207.793,0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122,4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203,6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PX8 (CGH1)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361.820,6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357.021,9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357.021,9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124,8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149,9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PX9 (Than 9)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88.497,5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76.712,8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76.311,4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401,4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839,3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117,2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PX10 (Than 10)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146.446,8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133.185,2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131.544,9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1.640,3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832,0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155,9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PX11 (Than 11)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80.879,4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69.083,6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69.083,6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785,7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118,1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11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Cộng 11 PX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1.656.144,6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1.547.340,5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884.485,8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564.815,0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82.283,4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15.756,3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7.399,6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1.797,1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852160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Than lò chợ 11 PX = 1.547.340,5 t, khớp tổng than lò chợ Công ty (sheet TKV dòng 119). Mét lò đào của PX7, PX8 chủ yếu là lò chống neo (PX7: 113,7/122,4 m; PX8: 124,8/124,8 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156, 175, 185, 188, 190–193, cột G:Q.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6 phân xưởng đào lò: 8.291,5 m lò đào = 45,6% tổng mét lò đào Công 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Lũy kế 9 tháng. Đơn vị: m, tấn.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11480" y="1417320"/>
          <a:ext cx="576072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463040"/>
          <a:ext cx="53949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005840"/>
                <a:gridCol w="1005840"/>
                <a:gridCol w="960120"/>
                <a:gridCol w="1097280"/>
              </a:tblGrid>
              <a:tr h="35433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Phân xưởng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đào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đá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Lò xén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Than NK (t)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PX12 (CGĐB)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1.191,5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478,05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559,8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26.296,4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PX13 (BCG)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977,1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917,40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114,0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1.408,6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PX14 (ĐL3)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1.315,6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162,70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508,7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28.208,4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PX15 (ĐL1)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1.446,4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311,30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451,0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25.229,1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PX16 (ĐL5)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1.926,2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346,30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416,0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35.782,3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PX17 (ĐL6)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1.434,7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258,60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533,1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0B2A4A"/>
                          </a:solidFill>
                          <a:latin typeface="Arial"/>
                        </a:rPr>
                        <a:t>24.407,6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5433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Cộng 6 PX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8.291,5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2.474,35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2.582,6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0B2A4A"/>
                          </a:solidFill>
                          <a:latin typeface="Arial"/>
                        </a:rPr>
                        <a:t>141.332,4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4480560"/>
            <a:ext cx="539496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Nhận xét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PX16 (ĐL5) cao nhất: 1.926,2 m lò đào; PX13 (BCG) chủ yếu đào lò đá (917,4 m).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PX12 (CGĐB) đạt 1.191,5 m, trong đó combai EBH-45 459,9 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156, 167, 175, 185, 205, cột R:W.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Đơn vị thuê ngoài và đơn vị phụ trợ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Lũy kế 9 tháng. HL1, PTH, QN, VN là đơn vị thuê ngoài; KSKM, VT1, VT2 là đơn vị phụ trợ (than hạ nền).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63040"/>
          <a:ext cx="69494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Đơn vị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Lò đào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Lò đá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Lò than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Lò xén (m)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Than NK (t)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TN (HL1)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2.249,3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1.890,3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359,0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65,5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10.559,6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PTH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43,3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43,3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859,3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QN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130,7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29,4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101,3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569,0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4.215,0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VN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88,0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88,0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106,5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1.053,8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KSKM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141,5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VT1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49,2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VT2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257,4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Cộng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2.511,3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2.007,7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503,6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771,0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0B2A4A"/>
                          </a:solidFill>
                          <a:latin typeface="Arial"/>
                        </a:rPr>
                        <a:t>17.135,8</a:t>
                      </a:r>
                    </a:p>
                  </a:txBody>
                  <a:tcPr marL="54864" marR="54864" marT="27432" marB="27432" anchor="ctr"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589520" y="1371600"/>
          <a:ext cx="42062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4846320"/>
            <a:ext cx="42062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5B6775"/>
                </a:solidFill>
                <a:latin typeface="Arial"/>
              </a:rPr>
              <a:t>Cơ cấu mét lò đào theo nhóm đơn vị (m)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37760"/>
            <a:ext cx="694944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HL1 đào 2.249,3 m, trong đó lò đá 1.890,3 m – đơn vị thuê ngoài lớn nhất.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0B2A4A"/>
                </a:solidFill>
                <a:latin typeface="Arial"/>
              </a:rPr>
              <a:t>• Kiểm tra: 11 PX khai thác 7.399,6 + 6 PX đào lò 8.291,5 + đơn vị khác 2.511,3 = 18.202,4 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sheet TKV dòng 156, 167, 171, 175, 185, cột X:AD.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65760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8000" b="1">
                <a:solidFill>
                  <a:srgbClr val="E8A317"/>
                </a:solidFill>
                <a:latin typeface="Arial"/>
              </a:rPr>
              <a:t>IV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TỒN TẠI, NGUYÊN NHÂN – NHIỆM VỤ, GIẢI PHÁP QUÝ IV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2286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Những tồn tại thể hiện qua số liệu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Nguyên nhân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Khối lượng phải thực hiện quý IV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• Giải pháp, kiến nghị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Những tồn tại thể hiện qua số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29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1188720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1188720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188720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Sản lượng, mét lò đào, mét lò xén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188720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Đạt 72,6% / 69,4% / 68,7% KH (QĐ 2675) – dưới tiến độ 75%</a:t>
            </a:r>
          </a:p>
        </p:txBody>
      </p:sp>
      <p:sp>
        <p:nvSpPr>
          <p:cNvPr id="12" name="Oval 11"/>
          <p:cNvSpPr/>
          <p:nvPr/>
        </p:nvSpPr>
        <p:spPr>
          <a:xfrm>
            <a:off x="411480" y="1792224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92224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1792224"/>
            <a:ext cx="1078992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792224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Sản lượng quý III giảm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792224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Quý III 554.613,3 t, giảm 82.975,1 t so với quý II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2395728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395728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2395728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2395728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Lò chợ CGH hạng nhẹ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395728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Không có sản lượng quý III; 9 tháng đạt 55,9% KH</a:t>
            </a:r>
          </a:p>
        </p:txBody>
      </p:sp>
      <p:sp>
        <p:nvSpPr>
          <p:cNvPr id="22" name="Oval 21"/>
          <p:cNvSpPr/>
          <p:nvPr/>
        </p:nvSpPr>
        <p:spPr>
          <a:xfrm>
            <a:off x="411480" y="2999232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2999232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999232"/>
            <a:ext cx="1078992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2999232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Lò chợ giàn mềm (ZRY)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999232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Đạt 49,3% KH; quý III 16.829,6 t (quý I: 39.665,9 t)</a:t>
            </a:r>
          </a:p>
        </p:txBody>
      </p:sp>
      <p:sp>
        <p:nvSpPr>
          <p:cNvPr id="27" name="Oval 26"/>
          <p:cNvSpPr/>
          <p:nvPr/>
        </p:nvSpPr>
        <p:spPr>
          <a:xfrm>
            <a:off x="411480" y="3602736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602736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3602736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602736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Combai EBH-45, chống neo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760" y="3602736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EBH-45 đạt 38,3%, dừng từ tháng 6; chống neo quý III 5,6 m</a:t>
            </a:r>
          </a:p>
        </p:txBody>
      </p:sp>
      <p:sp>
        <p:nvSpPr>
          <p:cNvPr id="32" name="Oval 31"/>
          <p:cNvSpPr/>
          <p:nvPr/>
        </p:nvSpPr>
        <p:spPr>
          <a:xfrm>
            <a:off x="411480" y="4206240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4206240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4206240"/>
            <a:ext cx="1078992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206240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Mét lò xén trong than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0" y="4206240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Đạt 50,5% KH (xén trong đá 84,1%)</a:t>
            </a:r>
          </a:p>
        </p:txBody>
      </p:sp>
      <p:sp>
        <p:nvSpPr>
          <p:cNvPr id="37" name="Oval 36"/>
          <p:cNvSpPr/>
          <p:nvPr/>
        </p:nvSpPr>
        <p:spPr>
          <a:xfrm>
            <a:off x="411480" y="4809744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4809744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" y="4809744"/>
            <a:ext cx="10789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809744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Chất lượng than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4809744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Độ tro 38,1%, vượt KH 1,6 điểm %</a:t>
            </a:r>
          </a:p>
        </p:txBody>
      </p:sp>
      <p:sp>
        <p:nvSpPr>
          <p:cNvPr id="42" name="Oval 41"/>
          <p:cNvSpPr/>
          <p:nvPr/>
        </p:nvSpPr>
        <p:spPr>
          <a:xfrm>
            <a:off x="411480" y="5413248"/>
            <a:ext cx="457200" cy="47548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413248"/>
            <a:ext cx="45720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5840" y="5413248"/>
            <a:ext cx="10789920" cy="47548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413248"/>
            <a:ext cx="384048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0B2A4A"/>
                </a:solidFill>
                <a:latin typeface="Arial"/>
              </a:rPr>
              <a:t>Gia cố đường lò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0" y="5413248"/>
            <a:ext cx="6766560" cy="47548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Ép vữa 46,8%, ép hóa chất 3,3%, đổ bê tông chưa thực hiện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tổng hợp từ các slide 5–22.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Nguyên nhân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Phòng KCM bổ sung nguyên nhân cụ thể – file số liệu KLM không có thông tin nguyên nhân nên chưa điền.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63040"/>
          <a:ext cx="113842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566160"/>
                <a:gridCol w="7269480"/>
              </a:tblGrid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Tồn tại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Nguyên nhân (khách quan / chủ quan)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Sản lượng, mét lò đào, mét lò xén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Sản lượng quý III giảm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Lò chợ CGH hạng nhẹ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Lò chợ giàn mềm (ZRY)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Combai EBH-45, chống neo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Mét lò xén trong than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Chất lượng than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Gia cố đường lò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B2A4A"/>
                          </a:solidFill>
                          <a:latin typeface="Arial"/>
                        </a:rPr>
                        <a:t>[Bổ sung: điều kiện địa chất, chuẩn bị diện, chuyển diện, thiết bị, lao động…]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nội dung nguyên nhân do Phòng KCM và các phân xưởng cung cấp.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Quý IV/2026: bình quân tháng phải tăng 13,3% sản lượng, 32,3% mét lò đào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38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B6775"/>
                </a:solidFill>
                <a:latin typeface="Arial"/>
              </a:rPr>
              <a:t>Còn lại = KH năm − TH 9 tháng; BQ tháng quý IV = còn lại ÷ 3; BQ đã đạt = TH 9 tháng ÷ 9. Mức tăng so với BQ đã đạt (theo QĐ 2675).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63040"/>
          <a:ext cx="1138428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1828800"/>
                <a:gridCol w="1783080"/>
                <a:gridCol w="1828800"/>
                <a:gridCol w="1783080"/>
                <a:gridCol w="1737360"/>
              </a:tblGrid>
              <a:tr h="3886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Chỉ tiêu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Còn lại (QĐ 2675)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BQ/tháng Q.IV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Còn lại (3374)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BQ/tháng Q.IV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BQ đã đạt 9T</a:t>
                      </a:r>
                    </a:p>
                  </a:txBody>
                  <a:tcPr marL="54864" marR="54864" marT="27432" marB="27432" anchor="ctr">
                    <a:solidFill>
                      <a:srgbClr val="0B2A4A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Than NK hầm lò (tấn)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685.387,2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228.462,4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735.387,2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245.129,1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201.623,6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Mét lò đào CBSX (m)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8.027,6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2.675,9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7.527,6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2.509,2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2.022,5</a:t>
                      </a:r>
                    </a:p>
                  </a:txBody>
                  <a:tcPr marL="54864" marR="54864" marT="27432" marB="27432" anchor="ctr">
                    <a:solidFill>
                      <a:srgbClr val="F2F4F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Mét lò xén (m)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2.349,3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783,1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1.974,3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658,1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B2A4A"/>
                          </a:solidFill>
                          <a:latin typeface="Arial"/>
                        </a:rPr>
                        <a:t>572,3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11480" y="3200400"/>
          <a:ext cx="365760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233672" y="3200400"/>
          <a:ext cx="3657600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055863" y="3200400"/>
          <a:ext cx="3657600" cy="28803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1480" y="614476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Nguồn: tính từ TH 9 tháng (sheet TKV dòng 85, 104, 114) và KH năm (sheet PHU_LUC cột E, F).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43000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Arial"/>
              </a:rPr>
              <a:t>Nhiệm vụ, giải pháp trọng tâm quý IV năm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900" b="0">
                <a:solidFill>
                  <a:srgbClr val="5B6775"/>
                </a:solidFill>
                <a:latin typeface="Arial"/>
              </a:rPr>
              <a:t>Công ty than Dương Huy - TKV  |  Phòng Kỹ thuật công nghệ mỏ  |  Báo cáo 9 tháng năm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0B2A4A"/>
                </a:solidFill>
                <a:latin typeface="Arial"/>
              </a:rPr>
              <a:t>32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639312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3639312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KHAI THÁC THAN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3639312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338328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Tập trung điều hành lò chợ CGH, giá khung – giá xích (79,9% sản lượng Công ty); giảm thời gian dừng thiết bị.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Đẩy nhanh chuẩn bị, lắp đặt diện thay thế, không để gián đoạn sản lượng khi chuyển diện.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Xem xét khôi phục sản xuất lò chợ CGH hạng nhẹ; nâng sản lượng lò chợ giàn mềm (PX3).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3672" y="1234440"/>
            <a:ext cx="3639312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234440"/>
            <a:ext cx="3639312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ĐÀO LÒ, XÉN LÒ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1783080"/>
            <a:ext cx="3639312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70832" y="1965960"/>
            <a:ext cx="338328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Duy trì tốc độ đào lò tháng 9 (2.459,9 m); quý IV cần 2.675,9 m/tháng.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Ưu tiên các đường lò chuẩn bị diện khai thác năm 2027.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Đưa combai EBH-45 trở lại hoạt động khi đủ điều kiện; tăng đào lò chống neo; đẩy mạnh xén lò trong than.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3" y="1234440"/>
            <a:ext cx="3639312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55863" y="1234440"/>
            <a:ext cx="3639312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KỸ THUẬT, CHẤT LƯỢNG, ĐIỀU HÀNH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3" y="1783080"/>
            <a:ext cx="3639312" cy="4206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3023" y="1965960"/>
            <a:ext cx="338328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Khai thác chọn lọc, hạn chế lẫn đất đá vách, trụ để đưa độ tro về 36,5%.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Thực hiện các hạng mục gia cố còn chậm (ép vữa, ép hóa chất, đổ bê tông) theo PA 5342/TKCM-KCM.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0B2A4A"/>
                </a:solidFill>
                <a:latin typeface="Arial"/>
              </a:rPr>
              <a:t>• Giao KH quý IV chi tiết đến từng phân xưởng; theo dõi, đánh giá hàng tuần.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53328"/>
            <a:ext cx="113385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5B6775"/>
                </a:solidFill>
                <a:latin typeface="Arial"/>
              </a:rPr>
              <a:t>[Phòng KCM rà soát, bổ sung giải pháp cụ thể theo từng phân xưởng, diện khai thác.]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23360"/>
            <a:ext cx="12191695" cy="73152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E8A317"/>
                </a:solidFill>
                <a:latin typeface="Arial"/>
              </a:rPr>
              <a:t>KIẾN NGHỊ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[Kiến nghị với Giám đốc Công ty – Phòng KCM bổ sung]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• [Kiến nghị với Tập đoàn TKV (nếu có)]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Arial"/>
              </a:rPr>
              <a:t>XIN TRÂN TRỌNG CẢM ƠN!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9496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9D6E6"/>
                </a:solidFill>
                <a:latin typeface="Arial"/>
              </a:rPr>
              <a:t>Phòng Kỹ thuật công nghệ mỏ – Công ty than Dương Huy - TKV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