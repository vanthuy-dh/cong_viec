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Than NK hầm lò (tấn)</c:v>
                </c:pt>
              </c:strCache>
            </c:strRef>
          </c:tx>
          <c:spPr>
            <a:solidFill>
              <a:srgbClr val="0B2A4A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230349.6</c:v>
                </c:pt>
                <c:pt idx="1">
                  <c:v>143953.8</c:v>
                </c:pt>
                <c:pt idx="2">
                  <c:v>248107.8</c:v>
                </c:pt>
                <c:pt idx="3">
                  <c:v>246601.9</c:v>
                </c:pt>
                <c:pt idx="4">
                  <c:v>200000.1</c:v>
                </c:pt>
                <c:pt idx="5">
                  <c:v>190986.3</c:v>
                </c:pt>
                <c:pt idx="6">
                  <c:v>179667.0</c:v>
                </c:pt>
                <c:pt idx="7">
                  <c:v>184530.5</c:v>
                </c:pt>
                <c:pt idx="8">
                  <c:v>190415.8</c:v>
                </c:pt>
              </c:numCache>
            </c:numRef>
          </c:val>
        </c:ser>
        <c:gapWidth val="6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BQ tháng theo KH năm QĐ 2675</c:v>
                </c:pt>
              </c:strCache>
            </c:strRef>
          </c:tx>
          <c:spPr>
            <a:ln w="28575">
              <a:solidFill>
                <a:srgbClr val="E8A317"/>
              </a:solidFill>
              <a:prstDash val="dash"/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208333.3</c:v>
                </c:pt>
                <c:pt idx="1">
                  <c:v>208333.3</c:v>
                </c:pt>
                <c:pt idx="2">
                  <c:v>208333.3</c:v>
                </c:pt>
                <c:pt idx="3">
                  <c:v>208333.3</c:v>
                </c:pt>
                <c:pt idx="4">
                  <c:v>208333.3</c:v>
                </c:pt>
                <c:pt idx="5">
                  <c:v>208333.3</c:v>
                </c:pt>
                <c:pt idx="6">
                  <c:v>208333.3</c:v>
                </c:pt>
                <c:pt idx="7">
                  <c:v>208333.3</c:v>
                </c:pt>
                <c:pt idx="8">
                  <c:v>208333.3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00.0"/>
          <c:min val="0.0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Lò đá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724.8</c:v>
                </c:pt>
                <c:pt idx="1">
                  <c:v>445.9</c:v>
                </c:pt>
                <c:pt idx="2">
                  <c:v>806.1</c:v>
                </c:pt>
                <c:pt idx="3">
                  <c:v>743.0</c:v>
                </c:pt>
                <c:pt idx="4">
                  <c:v>502.9</c:v>
                </c:pt>
                <c:pt idx="5">
                  <c:v>687.3</c:v>
                </c:pt>
                <c:pt idx="6">
                  <c:v>630.9</c:v>
                </c:pt>
                <c:pt idx="7">
                  <c:v>792.65</c:v>
                </c:pt>
                <c:pt idx="8">
                  <c:v>876.1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Lò than</c:v>
                </c:pt>
              </c:strCache>
            </c:strRef>
          </c:tx>
          <c:spPr>
            <a:solidFill>
              <a:srgbClr val="2E6DB4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1574.5</c:v>
                </c:pt>
                <c:pt idx="1">
                  <c:v>1007.0</c:v>
                </c:pt>
                <c:pt idx="2">
                  <c:v>1562.1</c:v>
                </c:pt>
                <c:pt idx="3">
                  <c:v>1199.2</c:v>
                </c:pt>
                <c:pt idx="4">
                  <c:v>1460.5</c:v>
                </c:pt>
                <c:pt idx="5">
                  <c:v>1186.8</c:v>
                </c:pt>
                <c:pt idx="6">
                  <c:v>976.1</c:v>
                </c:pt>
                <c:pt idx="7">
                  <c:v>1442.75</c:v>
                </c:pt>
                <c:pt idx="8">
                  <c:v>1583.8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Mét lò xén</c:v>
                </c:pt>
              </c:strCache>
            </c:strRef>
          </c:tx>
          <c:spPr>
            <a:ln w="31750">
              <a:solidFill>
                <a:srgbClr val="E8A317"/>
              </a:solidFill>
            </a:ln>
          </c:spPr>
          <c:marker>
            <c:symbol val="circle"/>
            <c:size val="7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662.6</c:v>
                </c:pt>
                <c:pt idx="1">
                  <c:v>426.2</c:v>
                </c:pt>
                <c:pt idx="2">
                  <c:v>634.2</c:v>
                </c:pt>
                <c:pt idx="3">
                  <c:v>542.1</c:v>
                </c:pt>
                <c:pt idx="4">
                  <c:v>295.8</c:v>
                </c:pt>
                <c:pt idx="5">
                  <c:v>689.5</c:v>
                </c:pt>
                <c:pt idx="6">
                  <c:v>572.7</c:v>
                </c:pt>
                <c:pt idx="7">
                  <c:v>742.2</c:v>
                </c:pt>
                <c:pt idx="8">
                  <c:v>585.4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KH năm</c:v>
                </c:pt>
              </c:strCache>
            </c:strRef>
          </c:tx>
          <c:dPt>
            <c:idx val="0"/>
            <c:spPr>
              <a:solidFill>
                <a:srgbClr val="1E8E5A"/>
              </a:solidFill>
            </c:spPr>
          </c:dPt>
          <c:dPt>
            <c:idx val="1"/>
            <c:spPr>
              <a:solidFill>
                <a:srgbClr val="1E8E5A"/>
              </a:solidFill>
            </c:spPr>
          </c:dPt>
          <c:dPt>
            <c:idx val="2"/>
            <c:spPr>
              <a:solidFill>
                <a:srgbClr val="C0392B"/>
              </a:solidFill>
            </c:spPr>
          </c:dPt>
          <c:dPt>
            <c:idx val="3"/>
            <c:spPr>
              <a:solidFill>
                <a:srgbClr val="C0392B"/>
              </a:solidFill>
            </c:spPr>
          </c:dPt>
          <c:dPt>
            <c:idx val="4"/>
            <c:spPr>
              <a:solidFill>
                <a:srgbClr val="C0392B"/>
              </a:solidFill>
            </c:spPr>
          </c:dPt>
          <c:dPt>
            <c:idx val="5"/>
            <c:spPr>
              <a:solidFill>
                <a:srgbClr val="1E8E5A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11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Than đào lò CBSX</c:v>
                </c:pt>
                <c:pt idx="1">
                  <c:v>DVPT, ngang nghiêng</c:v>
                </c:pt>
                <c:pt idx="2">
                  <c:v>Giàn mềm ZRY</c:v>
                </c:pt>
                <c:pt idx="3">
                  <c:v>Giá khung, giá xích</c:v>
                </c:pt>
                <c:pt idx="4">
                  <c:v>CGH hạng nhẹ</c:v>
                </c:pt>
                <c:pt idx="5">
                  <c:v>CGH hạng trung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76.2</c:v>
                </c:pt>
                <c:pt idx="1">
                  <c:v>105.0</c:v>
                </c:pt>
                <c:pt idx="2">
                  <c:v>49.3</c:v>
                </c:pt>
                <c:pt idx="3">
                  <c:v>69.7</c:v>
                </c:pt>
                <c:pt idx="4">
                  <c:v>55.9</c:v>
                </c:pt>
                <c:pt idx="5">
                  <c:v>92.4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b"/>
        <c:numFmt formatCode="0&quot;%&quot;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Than NK (tấn)</c:v>
                </c:pt>
              </c:strCache>
            </c:strRef>
          </c:tx>
          <c:spPr>
            <a:solidFill>
              <a:srgbClr val="0B2A4A"/>
            </a:solidFill>
          </c:spPr>
          <c:dPt>
            <c:idx val="9"/>
            <c:spPr>
              <a:solidFill>
                <a:srgbClr val="E8A317"/>
              </a:solidFill>
            </c:spPr>
          </c:dPt>
          <c:dPt>
            <c:idx val="10"/>
            <c:spPr>
              <a:solidFill>
                <a:srgbClr val="E8A317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PX11 (Than 11)</c:v>
                </c:pt>
                <c:pt idx="1">
                  <c:v>PX9 (Than 9)</c:v>
                </c:pt>
                <c:pt idx="2">
                  <c:v>PX1 (Than 1)</c:v>
                </c:pt>
                <c:pt idx="3">
                  <c:v>PX3 (Than 3)</c:v>
                </c:pt>
                <c:pt idx="4">
                  <c:v>PX5 (Than 5)</c:v>
                </c:pt>
                <c:pt idx="5">
                  <c:v>PX2 (Than 2)</c:v>
                </c:pt>
                <c:pt idx="6">
                  <c:v>PX10 (Than 10)</c:v>
                </c:pt>
                <c:pt idx="7">
                  <c:v>PX6 (Than 6)</c:v>
                </c:pt>
                <c:pt idx="8">
                  <c:v>PX4 (Than 8)</c:v>
                </c:pt>
                <c:pt idx="9">
                  <c:v>PX7 (CGH2)</c:v>
                </c:pt>
                <c:pt idx="10">
                  <c:v>PX8 (CGH1)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80879.4</c:v>
                </c:pt>
                <c:pt idx="1">
                  <c:v>88497.5</c:v>
                </c:pt>
                <c:pt idx="2">
                  <c:v>102096.5</c:v>
                </c:pt>
                <c:pt idx="3">
                  <c:v>104814.9</c:v>
                </c:pt>
                <c:pt idx="4">
                  <c:v>122300.0</c:v>
                </c:pt>
                <c:pt idx="5">
                  <c:v>124812.2</c:v>
                </c:pt>
                <c:pt idx="6">
                  <c:v>146446.8</c:v>
                </c:pt>
                <c:pt idx="7">
                  <c:v>146543.2</c:v>
                </c:pt>
                <c:pt idx="8">
                  <c:v>165862.2</c:v>
                </c:pt>
                <c:pt idx="9">
                  <c:v>212071.4</c:v>
                </c:pt>
                <c:pt idx="10">
                  <c:v>361820.6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317"/>
                </a:solidFill>
                <a:latin typeface="Arial"/>
              </a:rPr>
              <a:t>CÔNG TY THAN DƯƠNG HUY - TKV  •  PHÒNG KỸ THUẬT CÔNG NGHỆ MỎ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BÁO CÁO KẾT QUẢ THỰC HIỆN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KẾ HOẠCH SẢN XUẤT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6E6"/>
                </a:solidFill>
                <a:latin typeface="Arial"/>
              </a:rPr>
              <a:t>Nhiệm vụ, giải pháp quý IV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Báo cáo Giám đốc Công ty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Trình bày: Nguyễn Văn Thúy – Trưởng phòng KCM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Quảng Ninh, tháng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Tổng quan 9 tháng: các chỉ tiêu chính chưa đạt tiến độ 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Tiến độ thời gian 9 tháng = 9/12 = 75,0%. Tỷ lệ % = TH 9 tháng ÷ KH năm ×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6118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82296" cy="28803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775"/>
                </a:solidFill>
                <a:latin typeface="Arial"/>
              </a:rPr>
              <a:t>THAN NGUYÊN KHAI HẦM LÒ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Arial"/>
              </a:rPr>
              <a:t>1.814.612,8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tấn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QĐ 2675: 2.500.000 tấn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8036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72,6%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27832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27832"/>
            <a:ext cx="2322994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0380" y="3172968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8444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KH 3374: 2.550.000 tấn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38728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71,2%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2277445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0380" y="3831335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3672" y="1463040"/>
            <a:ext cx="36118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33672" y="1463040"/>
            <a:ext cx="82296" cy="28803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15727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775"/>
                </a:solidFill>
                <a:latin typeface="Arial"/>
              </a:rPr>
              <a:t>MÉT LÒ ĐÀO CBSX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Arial"/>
              </a:rPr>
              <a:t>18.202,4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51460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9260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QĐ 2675: 26.230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88036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69,4%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3227832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3227832"/>
            <a:ext cx="2220928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62572" y="3172968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58444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KH 3374: 25.730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538728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70,7%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2272" y="3886200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62272" y="3886200"/>
            <a:ext cx="2264087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62572" y="3831335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5863" y="1463040"/>
            <a:ext cx="36118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55863" y="1463040"/>
            <a:ext cx="82296" cy="28803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3" y="15727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775"/>
                </a:solidFill>
                <a:latin typeface="Arial"/>
              </a:rPr>
              <a:t>MÉT LÒ XÉN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3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Arial"/>
              </a:rPr>
              <a:t>5.150,7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3" y="251460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3" y="29260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QĐ 2675: 7.500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3" y="288036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68,7%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84463" y="3227832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84463" y="3227832"/>
            <a:ext cx="2197906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84763" y="3172968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3" y="358444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KH 3374: 7.125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33303" y="3538728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72,3%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4463" y="3886200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3" y="3886200"/>
            <a:ext cx="2313586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84763" y="3831335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645152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775"/>
                </a:solidFill>
                <a:latin typeface="Arial"/>
              </a:rPr>
              <a:t>Độ tro BQ than NK hầm lò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3776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38,1%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44068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KH 36,5% → cao hơn 1,6 điểm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73552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4645152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775"/>
                </a:solidFill>
                <a:latin typeface="Arial"/>
              </a:rPr>
              <a:t>Hệ số mét lò CBSX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10712" y="493776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10,03 m/1000 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0712" y="544068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KH: 10,49 (QĐ 2675) / 10,09 (3374)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35624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2784" y="4645152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775"/>
                </a:solidFill>
                <a:latin typeface="Arial"/>
              </a:rPr>
              <a:t>Tổn thất khai thác hầm lò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72784" y="493776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8E5A"/>
                </a:solidFill>
                <a:latin typeface="Arial"/>
              </a:rPr>
              <a:t>19,08%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2784" y="544068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KH 19,14% → đạt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97696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856" y="4645152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775"/>
                </a:solidFill>
                <a:latin typeface="Arial"/>
              </a:rPr>
              <a:t>Bình quân than / tháng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856" y="493776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201.623,6 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34856" y="544068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Q.IV cần 228.462,4 t/tháng (QĐ 2675)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1097280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A317"/>
                </a:solidFill>
                <a:latin typeface="Arial"/>
              </a:rPr>
              <a:t>▍ vạch vàng = mốc tiến độ 75%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File KLM chốt 13/10/2026 – sheet TKV (cộng T1–T9, cột G:O); sheet PHU_LUC cột E (QĐ 2675), F (3374), ô V30, V131.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Sản lượng than theo tháng: quý III thấp nhất, giảm 82.975,1 tấn so với quý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tấn. Đường ngang: bình quân tháng cần đạt theo KH năm QĐ 2675 = 2.500.000 ÷ 12 = 208.333,3 tấn.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68096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463040"/>
          <a:ext cx="3474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34440"/>
                <a:gridCol w="10515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Kỳ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Than NK (tấn)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BQ/tháng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622.411,2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207.470,4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637.588,3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212.529,4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554.613,3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184.871,1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Cộng 9 tháng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1.814.612,8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201.623,6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3840480"/>
            <a:ext cx="34747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Cao nhất: tháng 3 – 248.107,8 tấn.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Thấp nhất: tháng 2 – 143.953,8 tấn.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Quý III: 554.613,3 tấn, giảm 82.975,1 tấn (−13,0%) so với quý II.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Tháng 7–9 đều dưới mức bình quân KH năm.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114 (Than hầm lò), cột G:O.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Mét lò đào, mét lò xén: tháng 9 đạt 2.459,9 m – cao nhất từ đầu năm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Mét lò đào CBSX = lò đá + lò than.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68096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463040"/>
          <a:ext cx="3474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43000"/>
                <a:gridCol w="114300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Kỳ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Lò đào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Lò xén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6.120,4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1.723,0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5.779,7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1.527,4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6.302,3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1.900,3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Cộng 9 tháng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18.202,4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5.150,7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3840480"/>
            <a:ext cx="34747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Lò đào quý III đạt 6.302,3 m – cao nhất 3 quý.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Lò đá 9 tháng: 6.209,65 m, đạt 73,0% KH (QĐ 2675); lò than 11.992,75 m, đạt 67,7%.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Xén trong đá đạt 84,1%; xén trong than chỉ đạt 50,5% KH.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85 (mét lò đào), 96 (lò đá), 104 (mét lò xén), cột G:O; KH: sheet PHU_LUC cột 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Sản lượng theo công nghệ: CGH hạng nhẹ và lò chợ giàn mềm đạt thấp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Tỷ lệ % hoàn thành so với KH năm theo QĐ 2675 (KH 3374 không có số chi tiết theo công nghệ).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512064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1463040"/>
          <a:ext cx="60350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51560"/>
                <a:gridCol w="1188720"/>
                <a:gridCol w="777240"/>
                <a:gridCol w="1005840"/>
              </a:tblGrid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Công nghệ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 năm (t)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 9T (t)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Tỷ trọng %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Lò chợ CGH (máy khấu)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732.000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564.815,0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77,2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31,1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  + CGH hạng trung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426.000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393.720,9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92,4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  + CGH hạng nhẹ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306.000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171.094,1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55,9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Giá khung, giá xích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1.269.200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884.485,8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69,7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48,7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Giàn mềm (ZRY)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167.000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82.283,4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DVPT, ngang nghiêng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15.000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15.756,3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105,0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0,9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Than đào lò CBSX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302.680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230.692,3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76,2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Than xén, hạ nền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14.120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36.580,0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259,1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Tổng cộng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2.500.000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1.814.612,8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72,6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0" y="5120640"/>
            <a:ext cx="60350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CGH hạng nhẹ không có sản lượng tháng 7, 8, 9.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Giá khung, giá xích chiếm 48,7% sản lượng nhưng mới đạt 69,7% KH – yếu tố quyết định hoàn thành KH năm.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116–124; sheet PHU_LUC dòng 20–28 (cột E: KH QĐ 2675).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Đào lò theo vật liệu chống, công nghệ và khối lượng gia cố đường lò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So với KH năm (QĐ 2675) và PA gia cố đường lò số 5342/TKCM-KCM.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Arial"/>
              </a:rPr>
              <a:t>Mét lò đào CBSX theo vật liệu chống, công nghệ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737360"/>
          <a:ext cx="5669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051560"/>
                <a:gridCol w="8686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 năm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 9T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Lò chống sắt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24.310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16.782,0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69,0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Lò chống neo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861,6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86,2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Lò chống gỗ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558,8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60,7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Đào bán CGH (xe khoan + máy xúc)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1.027,0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87,0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Đào CGH đồng bộ (combai EBH-45)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1.200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459,9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38,3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4343400"/>
            <a:ext cx="56692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Combai EBH-45: không có khối lượng từ tháng 6.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Lò chống neo: quý III chỉ đạt 5,6 m.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Tự làm 15.691,1 m (86,2%); thuê ngoài 2.511,3 m (13,8%).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Arial"/>
              </a:rPr>
              <a:t>Khối lượng gia cố, sửa chữa đường lò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1737360"/>
          <a:ext cx="5440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005840"/>
                <a:gridCol w="1005840"/>
                <a:gridCol w="914400"/>
              </a:tblGrid>
              <a:tr h="4049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 năm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 9T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Khoan neo cáp gia cố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1.621,0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216,1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Khoan ép vữa xi măng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327,5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46,8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Chống đội, đánh khuôn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1.114,0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111,4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Chống dặm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Khoan ép hóa chất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049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Đổ bê tông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4709160"/>
            <a:ext cx="5440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Ép vữa xi măng, ép hóa chất, đổ bê tông chậm so với PA gia cố.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Neo cáp, chống đội đã vượt KH năm.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98, 102, 130–138, 141, ô AF156, AG156; sheet PHU_LUC cột E dòng 64–69, 110–115. Lò chống sắt = tổng − chống neo − chống gỗ.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Sản lượng than theo phân xưởng khai thác (lũy kế 9 tháng)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11 PX khai thác: 1.656.144,6 tấn = 91,3% sản lượng Công ty. Chưa có KH giao theo PX nên chưa đánh giá % hoàn thành từng đơn vị.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630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463040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Các phân xưởng đào lò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0" y="1783080"/>
          <a:ext cx="4206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868680"/>
                <a:gridCol w="96012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Đơn vị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đào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xén (m)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Than (t)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PX12 (CGĐB)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1.191,5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559,8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26.296,4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PX13 (BCG)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977,1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114,0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1.408,6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PX14 (ĐL3)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1.315,6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508,7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28.208,4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PX15 (ĐL1)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1.446,4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451,0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25.229,1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PX16 (ĐL5)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1.926,2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416,0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35.782,3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PX17 (ĐL6)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1.434,7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533,1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24.407,6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Cộng 6 PX đào lò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8.291,5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2.582,6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141.332,4</a:t>
                      </a:r>
                    </a:p>
                  </a:txBody>
                  <a:tcPr marL="54864" marR="54864" anchor="ctr">
                    <a:solidFill>
                      <a:srgbClr val="FDF3DC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Đơn vị khác*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2.511,3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771,0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17.135,8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5074920"/>
            <a:ext cx="42062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B2A4A"/>
                </a:solidFill>
                <a:latin typeface="Arial"/>
              </a:rPr>
              <a:t>• 2 PX CGH (PX7, PX8) chiếm 31,6% sản lượng Công ty.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B2A4A"/>
                </a:solidFill>
                <a:latin typeface="Arial"/>
              </a:rPr>
              <a:t>* Đơn vị khác: HL1, PTH, QN, VN (thuê ngoài), KSKM, VT1, VT2.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TKV, bảng tổng hợp theo phân xưởng dòng 153–199 (lũy kế 9 tháng, đã đối chiếu khớp tổng Công 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Tồn tại và nguyên nhân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188720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70432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Sản lượng, mét lò đào, mét lò xén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170432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Đạt 72,6% / 69,4% / 68,7% KH (QĐ 2675) – dưới tiến độ 75%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1792224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92224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Lò chợ CGH hạng nhẹ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773936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Không có sản lượng quý III; 9 tháng đạt 55,9% KH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395728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95728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Lò chợ giàn mềm (ZRY)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77440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Đạt 49,3% KH; quý III 16.829,6 t, giảm so với quý I (39.665,9 t)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2999232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99232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980944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Đào lò combai EBH-45, chống neo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980944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EBH-45 đạt 38,3%, dừng từ tháng 6; chống neo quý III 5,6 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3602736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602736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84448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Mét lò xén trong than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584448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Đạt 50,5% KH (xén trong đá 84,1%)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" y="4206240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06240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187952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Chất lượng than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187952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Độ tro 38,1%, vượt KH 1,6 điểm %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4809744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809744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791456"/>
            <a:ext cx="2926080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Gia cố đường lò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791456"/>
            <a:ext cx="3749039" cy="5120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Ép vữa 46,8%, ép hóa chất 3,3%, đổ bê tông chưa thực hiện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1188720"/>
            <a:ext cx="3886200" cy="4800600"/>
          </a:xfrm>
          <a:prstGeom prst="rect">
            <a:avLst/>
          </a:prstGeom>
          <a:solidFill>
            <a:srgbClr val="FDF3DC"/>
          </a:solidFill>
          <a:ln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1280160"/>
            <a:ext cx="35661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Arial"/>
              </a:rPr>
              <a:t>NGUYÊN NHÂN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[Phòng KCM bổ sung nguyên nhân cụ thể cho từng tồn tại: điều kiện địa chất, chuẩn bị diện khai thác, chuyển diện, thiết bị, lao động…]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File số liệu KLM không có thông tin nguyên nhân nên chưa điền.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tổng hợp từ các slide 2–6.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Quý IV/2026: phải tăng 13,3% sản lượng bình quân tháng để hoàn thành KH năm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Còn lại = KH năm − TH 9 tháng; BQ tháng quý IV = Còn lại ÷ 3; BQ tháng đã đạt = TH 9 tháng ÷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Công ty than Dương Huy - TKV  |  Phòng Kỹ thuật công nghệ mỏ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63040"/>
          <a:ext cx="11384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828800"/>
                <a:gridCol w="1783080"/>
                <a:gridCol w="1828800"/>
                <a:gridCol w="1783080"/>
                <a:gridCol w="1737360"/>
              </a:tblGrid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Còn lại (QĐ 2675)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BQ/tháng Q.IV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Còn lại (3374)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BQ/tháng Q.IV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BQ đã đạt 9T</a:t>
                      </a:r>
                    </a:p>
                  </a:txBody>
                  <a:tcPr marL="54864" marR="54864" anchor="ctr">
                    <a:solidFill>
                      <a:srgbClr val="0B2A4A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Than NK hầm lò (tấn)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685.387,2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228.462,4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735.387,2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245.129,1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201.623,6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Mét lò đào CBSX (m)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8.027,6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2.675,9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7.527,6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2.509,2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2.022,5</a:t>
                      </a:r>
                    </a:p>
                  </a:txBody>
                  <a:tcPr marL="54864" marR="54864" anchor="ctr">
                    <a:solidFill>
                      <a:srgbClr val="F2F4F7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Mét lò xén (m)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2.349,3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783,1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1.974,3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658,1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572,3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24612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Arial"/>
              </a:rPr>
              <a:t>GIẢI PHÁP TRỌNG TÂM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57600"/>
            <a:ext cx="5577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657600"/>
            <a:ext cx="73152" cy="7132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530352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Tập trung điều hành lò chợ CGH, giá khung, giá xích (79,9% sản lượng Công ty); giảm thời gian dừng thiết bị.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3657600"/>
            <a:ext cx="5577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3657600"/>
            <a:ext cx="73152" cy="7132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657600"/>
            <a:ext cx="530352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Đẩy nhanh chuẩn bị, lắp đặt diện thay thế, không gián đoạn khi chuyển diện; xem xét khôi phục lò chợ CGH hạng nhẹ.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462272"/>
            <a:ext cx="5577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462272"/>
            <a:ext cx="73152" cy="7132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62272"/>
            <a:ext cx="530352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Duy trì tốc độ đào lò tháng 9 (2.459,9 m); ưu tiên lò chuẩn bị diện 2027; đưa EBH-45 trở lại khi đủ điều kiện.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4462272"/>
            <a:ext cx="5577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4462272"/>
            <a:ext cx="73152" cy="7132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462272"/>
            <a:ext cx="530352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Khai thác chọn lọc, hạn chế lẫn đất đá vách, trụ để đưa độ tro về mức KH 36,5%.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266944"/>
            <a:ext cx="5577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266944"/>
            <a:ext cx="73152" cy="7132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530352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Thực hiện các hạng mục gia cố còn chậm (ép vữa, ép hóa chất, đổ bê tông) theo PA 5342/TKCM-KCM.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5266944"/>
            <a:ext cx="5577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5266944"/>
            <a:ext cx="73152" cy="7132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5266944"/>
            <a:ext cx="530352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Giao KH quý IV chi tiết đến từng phân xưởng; theo dõi, đánh giá hàng tuần.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tính từ TH 9 tháng (sheet TKV) và KH năm (sheet PHU_LUC cột E, F). 79,9% = (564.815,0 + 884.485,8) ÷ 1.814.612,8 × 100.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