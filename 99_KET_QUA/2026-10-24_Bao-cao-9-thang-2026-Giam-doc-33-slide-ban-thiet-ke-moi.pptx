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0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5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6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7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0964f305-1a95-6e84-5685-fad99f0358b5}">
          <p14:sldIdLst>
            <p14:sldId id="256"/>
            <p14:sldId id="257"/>
            <p14:sldId id="258"/>
          </p14:sldIdLst>
        </p14:section>
        <p14:section name="I. Chỉ tiêu chủ yếu" id="{18fbfc19-c077-5ae1-6275-7a66ad50d72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II. Công nghệ" id="{95533fff-4744-2e67-0a44-8080a2cabba0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III. Phân xưởng" id="{00ed2531-59f3-3c0f-d70a-e1ac750ef0e2}">
          <p14:sldIdLst>
            <p14:sldId id="278"/>
            <p14:sldId id="279"/>
            <p14:sldId id="280"/>
            <p14:sldId id="281"/>
            <p14:sldId id="282"/>
          </p14:sldIdLst>
        </p14:section>
        <p14:section name="IV. Tồn tại – Giải pháp" id="{5a7f1a1a-0ac6-62c7-8e9f-ccfce85d9eaa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Than NK hầm lò (tấn)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230349.65</c:v>
                </c:pt>
                <c:pt idx="1">
                  <c:v>143953.79</c:v>
                </c:pt>
                <c:pt idx="2">
                  <c:v>248107.76</c:v>
                </c:pt>
                <c:pt idx="3">
                  <c:v>246601.9</c:v>
                </c:pt>
                <c:pt idx="4">
                  <c:v>200000.12</c:v>
                </c:pt>
                <c:pt idx="5">
                  <c:v>190986.3</c:v>
                </c:pt>
                <c:pt idx="6">
                  <c:v>179667.01</c:v>
                </c:pt>
                <c:pt idx="7">
                  <c:v>184530.49</c:v>
                </c:pt>
                <c:pt idx="8">
                  <c:v>190415.76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BQ tháng theo KH năm QĐ 2675</c:v>
                </c:pt>
              </c:strCache>
            </c:strRef>
          </c:tx>
          <c:spPr>
            <a:solidFill>
              <a:srgbClr val="E3A21A"/>
            </a:solidFill>
            <a:ln w="25400" cap="flat">
              <a:solidFill>
                <a:srgbClr val="E3A21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A21A"/>
              </a:solidFill>
              <a:ln w="9525" cap="flat">
                <a:solidFill>
                  <a:srgbClr val="E3A2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208333.33</c:v>
                </c:pt>
                <c:pt idx="1">
                  <c:v>208333.33</c:v>
                </c:pt>
                <c:pt idx="2">
                  <c:v>208333.33</c:v>
                </c:pt>
                <c:pt idx="3">
                  <c:v>208333.33</c:v>
                </c:pt>
                <c:pt idx="4">
                  <c:v>208333.33</c:v>
                </c:pt>
                <c:pt idx="5">
                  <c:v>208333.33</c:v>
                </c:pt>
                <c:pt idx="6">
                  <c:v>208333.33</c:v>
                </c:pt>
                <c:pt idx="7">
                  <c:v>208333.33</c:v>
                </c:pt>
                <c:pt idx="8">
                  <c:v>208333.33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 lũy kế</c:v>
                </c:pt>
              </c:strCache>
            </c:strRef>
          </c:tx>
          <c:spPr>
            <a:solidFill>
              <a:srgbClr val="1F3A56"/>
            </a:solidFill>
            <a:ln w="38100" cap="flat">
              <a:solidFill>
                <a:srgbClr val="1F3A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3A56"/>
              </a:solidFill>
              <a:ln w="9525" cap="flat">
                <a:solidFill>
                  <a:srgbClr val="1F3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230349.65</c:v>
                </c:pt>
                <c:pt idx="1">
                  <c:v>374303.44</c:v>
                </c:pt>
                <c:pt idx="2">
                  <c:v>622411.19</c:v>
                </c:pt>
                <c:pt idx="3">
                  <c:v>869013.09</c:v>
                </c:pt>
                <c:pt idx="4">
                  <c:v>1069013.21</c:v>
                </c:pt>
                <c:pt idx="5">
                  <c:v>1259999.51</c:v>
                </c:pt>
                <c:pt idx="6">
                  <c:v>1439666.52</c:v>
                </c:pt>
                <c:pt idx="7">
                  <c:v>1624197.01</c:v>
                </c:pt>
                <c:pt idx="8">
                  <c:v>1814612.77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 lũy kế (phân bổ đều)</c:v>
                </c:pt>
              </c:strCache>
            </c:strRef>
          </c:tx>
          <c:spPr>
            <a:solidFill>
              <a:srgbClr val="E3A21A"/>
            </a:solidFill>
            <a:ln w="38100" cap="flat">
              <a:solidFill>
                <a:srgbClr val="E3A2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3A21A"/>
              </a:solidFill>
              <a:ln w="9525" cap="flat">
                <a:solidFill>
                  <a:srgbClr val="E3A2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208333.33</c:v>
                </c:pt>
                <c:pt idx="1">
                  <c:v>416666.67</c:v>
                </c:pt>
                <c:pt idx="2">
                  <c:v>625000</c:v>
                </c:pt>
                <c:pt idx="3">
                  <c:v>833333.33</c:v>
                </c:pt>
                <c:pt idx="4">
                  <c:v>1041666.67</c:v>
                </c:pt>
                <c:pt idx="5">
                  <c:v>1250000</c:v>
                </c:pt>
                <c:pt idx="6">
                  <c:v>1458333.33</c:v>
                </c:pt>
                <c:pt idx="7">
                  <c:v>1666666.67</c:v>
                </c:pt>
                <c:pt idx="8">
                  <c:v>1875000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Lò đá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724.8</c:v>
                </c:pt>
                <c:pt idx="1">
                  <c:v>445.9</c:v>
                </c:pt>
                <c:pt idx="2">
                  <c:v>806.1</c:v>
                </c:pt>
                <c:pt idx="3">
                  <c:v>743</c:v>
                </c:pt>
                <c:pt idx="4">
                  <c:v>502.9</c:v>
                </c:pt>
                <c:pt idx="5">
                  <c:v>687.3</c:v>
                </c:pt>
                <c:pt idx="6">
                  <c:v>630.9</c:v>
                </c:pt>
                <c:pt idx="7">
                  <c:v>792.65</c:v>
                </c:pt>
                <c:pt idx="8">
                  <c:v>876.1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Lò than</c:v>
                </c:pt>
              </c:strCache>
            </c:strRef>
          </c:tx>
          <c:spPr>
            <a:solidFill>
              <a:srgbClr val="7F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1574.5</c:v>
                </c:pt>
                <c:pt idx="1">
                  <c:v>1007</c:v>
                </c:pt>
                <c:pt idx="2">
                  <c:v>1562.1</c:v>
                </c:pt>
                <c:pt idx="3">
                  <c:v>1199.2</c:v>
                </c:pt>
                <c:pt idx="4">
                  <c:v>1460.5</c:v>
                </c:pt>
                <c:pt idx="5">
                  <c:v>1186.8</c:v>
                </c:pt>
                <c:pt idx="6">
                  <c:v>976.1</c:v>
                </c:pt>
                <c:pt idx="7">
                  <c:v>1442.75</c:v>
                </c:pt>
                <c:pt idx="8">
                  <c:v>1583.8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BQ tháng theo KH QĐ 2675</c:v>
                </c:pt>
              </c:strCache>
            </c:strRef>
          </c:tx>
          <c:spPr>
            <a:solidFill>
              <a:srgbClr val="E3A21A"/>
            </a:solidFill>
            <a:ln w="25400" cap="flat">
              <a:solidFill>
                <a:srgbClr val="E3A21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A21A"/>
              </a:solidFill>
              <a:ln w="9525" cap="flat">
                <a:solidFill>
                  <a:srgbClr val="E3A2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2185.83</c:v>
                </c:pt>
                <c:pt idx="1">
                  <c:v>2185.83</c:v>
                </c:pt>
                <c:pt idx="2">
                  <c:v>2185.83</c:v>
                </c:pt>
                <c:pt idx="3">
                  <c:v>2185.83</c:v>
                </c:pt>
                <c:pt idx="4">
                  <c:v>2185.83</c:v>
                </c:pt>
                <c:pt idx="5">
                  <c:v>2185.83</c:v>
                </c:pt>
                <c:pt idx="6">
                  <c:v>2185.83</c:v>
                </c:pt>
                <c:pt idx="7">
                  <c:v>2185.83</c:v>
                </c:pt>
                <c:pt idx="8">
                  <c:v>2185.83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 lũy kế</c:v>
                </c:pt>
              </c:strCache>
            </c:strRef>
          </c:tx>
          <c:spPr>
            <a:solidFill>
              <a:srgbClr val="1F3A56"/>
            </a:solidFill>
            <a:ln w="38100" cap="flat">
              <a:solidFill>
                <a:srgbClr val="1F3A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3A56"/>
              </a:solidFill>
              <a:ln w="9525" cap="flat">
                <a:solidFill>
                  <a:srgbClr val="1F3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2299.3</c:v>
                </c:pt>
                <c:pt idx="1">
                  <c:v>3752.2</c:v>
                </c:pt>
                <c:pt idx="2">
                  <c:v>6120.4</c:v>
                </c:pt>
                <c:pt idx="3">
                  <c:v>8062.6</c:v>
                </c:pt>
                <c:pt idx="4">
                  <c:v>10026</c:v>
                </c:pt>
                <c:pt idx="5">
                  <c:v>11900.1</c:v>
                </c:pt>
                <c:pt idx="6">
                  <c:v>13507.1</c:v>
                </c:pt>
                <c:pt idx="7">
                  <c:v>15742.5</c:v>
                </c:pt>
                <c:pt idx="8">
                  <c:v>18202.4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 lũy kế (phân bổ đều)</c:v>
                </c:pt>
              </c:strCache>
            </c:strRef>
          </c:tx>
          <c:spPr>
            <a:solidFill>
              <a:srgbClr val="E3A21A"/>
            </a:solidFill>
            <a:ln w="38100" cap="flat">
              <a:solidFill>
                <a:srgbClr val="E3A2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3A21A"/>
              </a:solidFill>
              <a:ln w="9525" cap="flat">
                <a:solidFill>
                  <a:srgbClr val="E3A2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2185.83</c:v>
                </c:pt>
                <c:pt idx="1">
                  <c:v>4371.67</c:v>
                </c:pt>
                <c:pt idx="2">
                  <c:v>6557.5</c:v>
                </c:pt>
                <c:pt idx="3">
                  <c:v>8743.33</c:v>
                </c:pt>
                <c:pt idx="4">
                  <c:v>10929.17</c:v>
                </c:pt>
                <c:pt idx="5">
                  <c:v>13115</c:v>
                </c:pt>
                <c:pt idx="6">
                  <c:v>15300.83</c:v>
                </c:pt>
                <c:pt idx="7">
                  <c:v>17486.67</c:v>
                </c:pt>
                <c:pt idx="8">
                  <c:v>19672.5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Xén trong đá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439.85</c:v>
                </c:pt>
                <c:pt idx="1">
                  <c:v>216.15</c:v>
                </c:pt>
                <c:pt idx="2">
                  <c:v>392.2</c:v>
                </c:pt>
                <c:pt idx="3">
                  <c:v>340.8</c:v>
                </c:pt>
                <c:pt idx="4">
                  <c:v>214.7</c:v>
                </c:pt>
                <c:pt idx="5">
                  <c:v>473.6</c:v>
                </c:pt>
                <c:pt idx="6">
                  <c:v>497.7</c:v>
                </c:pt>
                <c:pt idx="7">
                  <c:v>451.5</c:v>
                </c:pt>
                <c:pt idx="8">
                  <c:v>388.85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Xén trong than</c:v>
                </c:pt>
              </c:strCache>
            </c:strRef>
          </c:tx>
          <c:spPr>
            <a:solidFill>
              <a:srgbClr val="E3A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222.75</c:v>
                </c:pt>
                <c:pt idx="1">
                  <c:v>210.05</c:v>
                </c:pt>
                <c:pt idx="2">
                  <c:v>242</c:v>
                </c:pt>
                <c:pt idx="3">
                  <c:v>201.3</c:v>
                </c:pt>
                <c:pt idx="4">
                  <c:v>81.1</c:v>
                </c:pt>
                <c:pt idx="5">
                  <c:v>215.9</c:v>
                </c:pt>
                <c:pt idx="6">
                  <c:v>75</c:v>
                </c:pt>
                <c:pt idx="7">
                  <c:v>290.7</c:v>
                </c:pt>
                <c:pt idx="8">
                  <c:v>196.55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trọng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A56"/>
              </a:solidFill>
              <a:effectLst/>
            </c:spPr>
          </c:dPt>
          <c:dPt>
            <c:idx val="1"/>
            <c:bubble3D val="0"/>
            <c:spPr>
              <a:solidFill>
                <a:srgbClr val="E3A21A"/>
              </a:solidFill>
              <a:effectLst/>
            </c:spPr>
          </c:dPt>
          <c:dPt>
            <c:idx val="2"/>
            <c:bubble3D val="0"/>
            <c:spPr>
              <a:solidFill>
                <a:srgbClr val="7FA3C4"/>
              </a:solidFill>
              <a:effectLst/>
            </c:spPr>
          </c:dPt>
          <c:dPt>
            <c:idx val="3"/>
            <c:bubble3D val="0"/>
            <c:spPr>
              <a:solidFill>
                <a:srgbClr val="3E6E96"/>
              </a:solidFill>
              <a:effectLst/>
            </c:spPr>
          </c:dPt>
          <c:dPt>
            <c:idx val="4"/>
            <c:bubble3D val="0"/>
            <c:spPr>
              <a:solidFill>
                <a:srgbClr val="B5C7D8"/>
              </a:solidFill>
              <a:effectLst/>
            </c:spPr>
          </c:dPt>
          <c:dPt>
            <c:idx val="5"/>
            <c:bubble3D val="0"/>
            <c:spPr>
              <a:solidFill>
                <a:srgbClr val="F2CF7E"/>
              </a:solidFill>
              <a:effectLst/>
            </c:spPr>
          </c:dPt>
          <c:dPt>
            <c:idx val="6"/>
            <c:bubble3D val="0"/>
            <c:spPr>
              <a:solidFill>
                <a:srgbClr val="5E6A75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Giá khung, giá xích</c:v>
                </c:pt>
                <c:pt idx="1">
                  <c:v>CGH hạng trung</c:v>
                </c:pt>
                <c:pt idx="2">
                  <c:v>Than đào lò CBSX</c:v>
                </c:pt>
                <c:pt idx="3">
                  <c:v>CGH hạng nhẹ</c:v>
                </c:pt>
                <c:pt idx="4">
                  <c:v>Giàn mềm ZRY</c:v>
                </c:pt>
                <c:pt idx="5">
                  <c:v>Than xén, hạ nền</c:v>
                </c:pt>
                <c:pt idx="6">
                  <c:v>DVPT, ngang nghiêng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0.4874</c:v>
                </c:pt>
                <c:pt idx="1">
                  <c:v>0.217</c:v>
                </c:pt>
                <c:pt idx="2">
                  <c:v>0.1271</c:v>
                </c:pt>
                <c:pt idx="3">
                  <c:v>0.0943</c:v>
                </c:pt>
                <c:pt idx="4">
                  <c:v>0.0453</c:v>
                </c:pt>
                <c:pt idx="5">
                  <c:v>0.0202</c:v>
                </c:pt>
                <c:pt idx="6">
                  <c:v>0.0087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CGH hạng trung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57997.54</c:v>
                </c:pt>
                <c:pt idx="1">
                  <c:v>36258.81</c:v>
                </c:pt>
                <c:pt idx="2">
                  <c:v>55250.32</c:v>
                </c:pt>
                <c:pt idx="3">
                  <c:v>50754.9</c:v>
                </c:pt>
                <c:pt idx="4">
                  <c:v>8552.71</c:v>
                </c:pt>
                <c:pt idx="5">
                  <c:v>18726.75</c:v>
                </c:pt>
                <c:pt idx="6">
                  <c:v>52365.07</c:v>
                </c:pt>
                <c:pt idx="7">
                  <c:v>61607.37</c:v>
                </c:pt>
                <c:pt idx="8">
                  <c:v>52207.4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CGH hạng nhẹ</c:v>
                </c:pt>
              </c:strCache>
            </c:strRef>
          </c:tx>
          <c:spPr>
            <a:solidFill>
              <a:srgbClr val="E3A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3487.29</c:v>
                </c:pt>
                <c:pt idx="1">
                  <c:v>9209.7</c:v>
                </c:pt>
                <c:pt idx="2">
                  <c:v>37251.23</c:v>
                </c:pt>
                <c:pt idx="3">
                  <c:v>42612.22</c:v>
                </c:pt>
                <c:pt idx="4">
                  <c:v>48039.96</c:v>
                </c:pt>
                <c:pt idx="5">
                  <c:v>30493.7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6"/>
                </a:solidFill>
                <a:latin typeface="+mn-lt"/>
              </a:rPr>
              <a:t>Giá khung, giá xích (tấn)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Giá khung, giá xích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116989</c:v>
                </c:pt>
                <c:pt idx="1">
                  <c:v>65527.39</c:v>
                </c:pt>
                <c:pt idx="2">
                  <c:v>107456.01</c:v>
                </c:pt>
                <c:pt idx="3">
                  <c:v>115411.28</c:v>
                </c:pt>
                <c:pt idx="4">
                  <c:v>103097.61</c:v>
                </c:pt>
                <c:pt idx="5">
                  <c:v>104016.68</c:v>
                </c:pt>
                <c:pt idx="6">
                  <c:v>95387.56</c:v>
                </c:pt>
                <c:pt idx="7">
                  <c:v>81443.22</c:v>
                </c:pt>
                <c:pt idx="8">
                  <c:v>95157.03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6"/>
                </a:solidFill>
                <a:latin typeface="+mn-lt"/>
              </a:rPr>
              <a:t>Giàn mềm ZRY và DVPT (tấn)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Giàn mềm ZRY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16825.27</c:v>
                </c:pt>
                <c:pt idx="1">
                  <c:v>10164.9</c:v>
                </c:pt>
                <c:pt idx="2">
                  <c:v>12675.71</c:v>
                </c:pt>
                <c:pt idx="3">
                  <c:v>7571.53</c:v>
                </c:pt>
                <c:pt idx="4">
                  <c:v>9555.63</c:v>
                </c:pt>
                <c:pt idx="5">
                  <c:v>8660.73</c:v>
                </c:pt>
                <c:pt idx="6">
                  <c:v>4964.8</c:v>
                </c:pt>
                <c:pt idx="7">
                  <c:v>4922.51</c:v>
                </c:pt>
                <c:pt idx="8">
                  <c:v>6942.31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DVPT, ngang nghiêng</c:v>
                </c:pt>
              </c:strCache>
            </c:strRef>
          </c:tx>
          <c:spPr>
            <a:solidFill>
              <a:srgbClr val="1E8449"/>
            </a:solidFill>
            <a:ln w="31750" cap="flat">
              <a:solidFill>
                <a:srgbClr val="1E84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432.2</c:v>
                </c:pt>
                <c:pt idx="1">
                  <c:v>839.6</c:v>
                </c:pt>
                <c:pt idx="2">
                  <c:v>0</c:v>
                </c:pt>
                <c:pt idx="3">
                  <c:v>677.82</c:v>
                </c:pt>
                <c:pt idx="4">
                  <c:v>264.4</c:v>
                </c:pt>
                <c:pt idx="5">
                  <c:v>1844.88</c:v>
                </c:pt>
                <c:pt idx="6">
                  <c:v>2398.61</c:v>
                </c:pt>
                <c:pt idx="7">
                  <c:v>6365.74</c:v>
                </c:pt>
                <c:pt idx="8">
                  <c:v>2933.08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Than đào lò CBSX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31203.18</c:v>
                </c:pt>
                <c:pt idx="1">
                  <c:v>18438.3</c:v>
                </c:pt>
                <c:pt idx="2">
                  <c:v>30601.61</c:v>
                </c:pt>
                <c:pt idx="3">
                  <c:v>24995.37</c:v>
                </c:pt>
                <c:pt idx="4">
                  <c:v>26806.77</c:v>
                </c:pt>
                <c:pt idx="5">
                  <c:v>23121.66</c:v>
                </c:pt>
                <c:pt idx="6">
                  <c:v>20333.75</c:v>
                </c:pt>
                <c:pt idx="7">
                  <c:v>25542.62</c:v>
                </c:pt>
                <c:pt idx="8">
                  <c:v>29649.04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Than xén lò</c:v>
                </c:pt>
              </c:strCache>
            </c:strRef>
          </c:tx>
          <c:spPr>
            <a:solidFill>
              <a:srgbClr val="E3A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2906.39</c:v>
                </c:pt>
                <c:pt idx="1">
                  <c:v>2872.2</c:v>
                </c:pt>
                <c:pt idx="2">
                  <c:v>3837.77</c:v>
                </c:pt>
                <c:pt idx="3">
                  <c:v>4251.41</c:v>
                </c:pt>
                <c:pt idx="4">
                  <c:v>1816.16</c:v>
                </c:pt>
                <c:pt idx="5">
                  <c:v>3617.76</c:v>
                </c:pt>
                <c:pt idx="6">
                  <c:v>3353.51</c:v>
                </c:pt>
                <c:pt idx="7">
                  <c:v>4224.7</c:v>
                </c:pt>
                <c:pt idx="8">
                  <c:v>3323.87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Than hạ nền</c:v>
                </c:pt>
              </c:strCache>
            </c:strRef>
          </c:tx>
          <c:spPr>
            <a:solidFill>
              <a:srgbClr val="7F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508.78</c:v>
                </c:pt>
                <c:pt idx="1">
                  <c:v>642.89</c:v>
                </c:pt>
                <c:pt idx="2">
                  <c:v>1035.11</c:v>
                </c:pt>
                <c:pt idx="3">
                  <c:v>327.37</c:v>
                </c:pt>
                <c:pt idx="4">
                  <c:v>1866.88</c:v>
                </c:pt>
                <c:pt idx="5">
                  <c:v>504.14</c:v>
                </c:pt>
                <c:pt idx="6">
                  <c:v>863.71</c:v>
                </c:pt>
                <c:pt idx="7">
                  <c:v>424.33</c:v>
                </c:pt>
                <c:pt idx="8">
                  <c:v>203.03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Chống sắt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2141</c:v>
                </c:pt>
                <c:pt idx="1">
                  <c:v>1266.9</c:v>
                </c:pt>
                <c:pt idx="2">
                  <c:v>1958.8</c:v>
                </c:pt>
                <c:pt idx="3">
                  <c:v>1711.6</c:v>
                </c:pt>
                <c:pt idx="4">
                  <c:v>1718.5</c:v>
                </c:pt>
                <c:pt idx="5">
                  <c:v>1822.1</c:v>
                </c:pt>
                <c:pt idx="6">
                  <c:v>1595.3</c:v>
                </c:pt>
                <c:pt idx="7">
                  <c:v>2113.5</c:v>
                </c:pt>
                <c:pt idx="8">
                  <c:v>2454.3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Chống neo</c:v>
                </c:pt>
              </c:strCache>
            </c:strRef>
          </c:tx>
          <c:spPr>
            <a:solidFill>
              <a:srgbClr val="E3A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106.3</c:v>
                </c:pt>
                <c:pt idx="1">
                  <c:v>56</c:v>
                </c:pt>
                <c:pt idx="2">
                  <c:v>239.2</c:v>
                </c:pt>
                <c:pt idx="3">
                  <c:v>226.4</c:v>
                </c:pt>
                <c:pt idx="4">
                  <c:v>176.1</c:v>
                </c:pt>
                <c:pt idx="5">
                  <c:v>52</c:v>
                </c:pt>
                <c:pt idx="6">
                  <c:v>0</c:v>
                </c:pt>
                <c:pt idx="7">
                  <c:v>0</c:v>
                </c:pt>
                <c:pt idx="8">
                  <c:v>5.6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Chống gỗ</c:v>
                </c:pt>
              </c:strCache>
            </c:strRef>
          </c:tx>
          <c:spPr>
            <a:solidFill>
              <a:srgbClr val="7F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52</c:v>
                </c:pt>
                <c:pt idx="1">
                  <c:v>130</c:v>
                </c:pt>
                <c:pt idx="2">
                  <c:v>170.2</c:v>
                </c:pt>
                <c:pt idx="3">
                  <c:v>4.2</c:v>
                </c:pt>
                <c:pt idx="4">
                  <c:v>68.8</c:v>
                </c:pt>
                <c:pt idx="5">
                  <c:v>0</c:v>
                </c:pt>
                <c:pt idx="6">
                  <c:v>11.7</c:v>
                </c:pt>
                <c:pt idx="7">
                  <c:v>121.9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Combai EBH-45</c:v>
                </c:pt>
              </c:strCache>
            </c:strRef>
          </c:tx>
          <c:spPr>
            <a:solidFill>
              <a:srgbClr val="E3A21A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</c:v>
                </c:pt>
                <c:pt idx="1">
                  <c:v>81.2</c:v>
                </c:pt>
                <c:pt idx="2">
                  <c:v>128.8</c:v>
                </c:pt>
                <c:pt idx="3">
                  <c:v>98.7</c:v>
                </c:pt>
                <c:pt idx="4">
                  <c:v>116.2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Bán CGH (xe khoan + máy xúc)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64.5</c:v>
                </c:pt>
                <c:pt idx="1">
                  <c:v>62.5</c:v>
                </c:pt>
                <c:pt idx="2">
                  <c:v>196.5</c:v>
                </c:pt>
                <c:pt idx="3">
                  <c:v>122</c:v>
                </c:pt>
                <c:pt idx="4">
                  <c:v>105.5</c:v>
                </c:pt>
                <c:pt idx="5">
                  <c:v>168</c:v>
                </c:pt>
                <c:pt idx="6">
                  <c:v>120</c:v>
                </c:pt>
                <c:pt idx="7">
                  <c:v>92.5</c:v>
                </c:pt>
                <c:pt idx="8">
                  <c:v>95.5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95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Tự làm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1929.2</c:v>
                </c:pt>
                <c:pt idx="1">
                  <c:v>1295.2</c:v>
                </c:pt>
                <c:pt idx="2">
                  <c:v>2074.9</c:v>
                </c:pt>
                <c:pt idx="3">
                  <c:v>1668.5</c:v>
                </c:pt>
                <c:pt idx="4">
                  <c:v>1697.6</c:v>
                </c:pt>
                <c:pt idx="5">
                  <c:v>1563.1</c:v>
                </c:pt>
                <c:pt idx="6">
                  <c:v>1385.5</c:v>
                </c:pt>
                <c:pt idx="7">
                  <c:v>2054.2</c:v>
                </c:pt>
                <c:pt idx="8">
                  <c:v>2022.9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Thuê ngoài</c:v>
                </c:pt>
              </c:strCache>
            </c:strRef>
          </c:tx>
          <c:spPr>
            <a:solidFill>
              <a:srgbClr val="E3A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370.1</c:v>
                </c:pt>
                <c:pt idx="1">
                  <c:v>157.7</c:v>
                </c:pt>
                <c:pt idx="2">
                  <c:v>293.3</c:v>
                </c:pt>
                <c:pt idx="3">
                  <c:v>273.7</c:v>
                </c:pt>
                <c:pt idx="4">
                  <c:v>265.8</c:v>
                </c:pt>
                <c:pt idx="5">
                  <c:v>311</c:v>
                </c:pt>
                <c:pt idx="6">
                  <c:v>221.5</c:v>
                </c:pt>
                <c:pt idx="7">
                  <c:v>181.2</c:v>
                </c:pt>
                <c:pt idx="8">
                  <c:v>437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KH năm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Đổ bê tông</c:v>
                  </c:pt>
                  <c:pt idx="1">
                    <c:v>Khoan ép hóa chất</c:v>
                  </c:pt>
                  <c:pt idx="2">
                    <c:v>Khoan ép vữa xi măng</c:v>
                  </c:pt>
                  <c:pt idx="3">
                    <c:v>Chống đội, đánh khuôn</c:v>
                  </c:pt>
                  <c:pt idx="4">
                    <c:v>Khoan neo cáp gia cố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3.33</c:v>
                </c:pt>
                <c:pt idx="2">
                  <c:v>46.79</c:v>
                </c:pt>
                <c:pt idx="3">
                  <c:v>111.4</c:v>
                </c:pt>
                <c:pt idx="4">
                  <c:v>216.13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b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Than NK (tấn)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A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A5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A5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A5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3A5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3A5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3A5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F3A5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3A21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3A21A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PX11 (Than 11)</c:v>
                  </c:pt>
                  <c:pt idx="1">
                    <c:v>PX9 (Than 9)</c:v>
                  </c:pt>
                  <c:pt idx="2">
                    <c:v>PX1 (Than 1)</c:v>
                  </c:pt>
                  <c:pt idx="3">
                    <c:v>PX3 (Than 3)</c:v>
                  </c:pt>
                  <c:pt idx="4">
                    <c:v>PX5 (Than 5)</c:v>
                  </c:pt>
                  <c:pt idx="5">
                    <c:v>PX2 (Than 2)</c:v>
                  </c:pt>
                  <c:pt idx="6">
                    <c:v>PX10 (Than 10)</c:v>
                  </c:pt>
                  <c:pt idx="7">
                    <c:v>PX6 (Than 6)</c:v>
                  </c:pt>
                  <c:pt idx="8">
                    <c:v>PX4 (Than 8)</c:v>
                  </c:pt>
                  <c:pt idx="9">
                    <c:v>PX7 (CGH2)</c:v>
                  </c:pt>
                  <c:pt idx="10">
                    <c:v>PX8 (CGH1)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80879.4</c:v>
                </c:pt>
                <c:pt idx="1">
                  <c:v>88497.48</c:v>
                </c:pt>
                <c:pt idx="2">
                  <c:v>102096.46</c:v>
                </c:pt>
                <c:pt idx="3">
                  <c:v>104814.85</c:v>
                </c:pt>
                <c:pt idx="4">
                  <c:v>122300</c:v>
                </c:pt>
                <c:pt idx="5">
                  <c:v>124812.23</c:v>
                </c:pt>
                <c:pt idx="6">
                  <c:v>146446.82</c:v>
                </c:pt>
                <c:pt idx="7">
                  <c:v>146543.18</c:v>
                </c:pt>
                <c:pt idx="8">
                  <c:v>165862.19</c:v>
                </c:pt>
                <c:pt idx="9">
                  <c:v>212071.38</c:v>
                </c:pt>
                <c:pt idx="10">
                  <c:v>361820.57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000"/>
          <c:min val="0"/>
        </c:scaling>
        <c:delete val="0"/>
        <c:axPos val="b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Lò đá</c:v>
                </c:pt>
              </c:strCache>
            </c:strRef>
          </c:tx>
          <c:spPr>
            <a:solidFill>
              <a:srgbClr val="1F3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PX12 CGĐB</c:v>
                  </c:pt>
                  <c:pt idx="1">
                    <c:v>PX13 BCG</c:v>
                  </c:pt>
                  <c:pt idx="2">
                    <c:v>PX14 ĐL3</c:v>
                  </c:pt>
                  <c:pt idx="3">
                    <c:v>PX15 ĐL1</c:v>
                  </c:pt>
                  <c:pt idx="4">
                    <c:v>PX16 ĐL5</c:v>
                  </c:pt>
                  <c:pt idx="5">
                    <c:v>PX17 ĐL6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478.05</c:v>
                </c:pt>
                <c:pt idx="1">
                  <c:v>917.4</c:v>
                </c:pt>
                <c:pt idx="2">
                  <c:v>162.7</c:v>
                </c:pt>
                <c:pt idx="3">
                  <c:v>311.3</c:v>
                </c:pt>
                <c:pt idx="4">
                  <c:v>346.3</c:v>
                </c:pt>
                <c:pt idx="5">
                  <c:v>258.6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Lò than</c:v>
                </c:pt>
              </c:strCache>
            </c:strRef>
          </c:tx>
          <c:spPr>
            <a:solidFill>
              <a:srgbClr val="7F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PX12 CGĐB</c:v>
                  </c:pt>
                  <c:pt idx="1">
                    <c:v>PX13 BCG</c:v>
                  </c:pt>
                  <c:pt idx="2">
                    <c:v>PX14 ĐL3</c:v>
                  </c:pt>
                  <c:pt idx="3">
                    <c:v>PX15 ĐL1</c:v>
                  </c:pt>
                  <c:pt idx="4">
                    <c:v>PX16 ĐL5</c:v>
                  </c:pt>
                  <c:pt idx="5">
                    <c:v>PX17 ĐL6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713.45</c:v>
                </c:pt>
                <c:pt idx="1">
                  <c:v>59.7</c:v>
                </c:pt>
                <c:pt idx="2">
                  <c:v>1152.9</c:v>
                </c:pt>
                <c:pt idx="3">
                  <c:v>1135.1</c:v>
                </c:pt>
                <c:pt idx="4">
                  <c:v>1579.9</c:v>
                </c:pt>
                <c:pt idx="5">
                  <c:v>1176.1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Lò xén</c:v>
                </c:pt>
              </c:strCache>
            </c:strRef>
          </c:tx>
          <c:spPr>
            <a:solidFill>
              <a:srgbClr val="E3A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PX12 CGĐB</c:v>
                  </c:pt>
                  <c:pt idx="1">
                    <c:v>PX13 BCG</c:v>
                  </c:pt>
                  <c:pt idx="2">
                    <c:v>PX14 ĐL3</c:v>
                  </c:pt>
                  <c:pt idx="3">
                    <c:v>PX15 ĐL1</c:v>
                  </c:pt>
                  <c:pt idx="4">
                    <c:v>PX16 ĐL5</c:v>
                  </c:pt>
                  <c:pt idx="5">
                    <c:v>PX17 ĐL6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559.8</c:v>
                </c:pt>
                <c:pt idx="1">
                  <c:v>114</c:v>
                </c:pt>
                <c:pt idx="2">
                  <c:v>508.7</c:v>
                </c:pt>
                <c:pt idx="3">
                  <c:v>451</c:v>
                </c:pt>
                <c:pt idx="4">
                  <c:v>416</c:v>
                </c:pt>
                <c:pt idx="5">
                  <c:v>533.1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A56"/>
                </a:solidFill>
                <a:latin typeface="+mn-lt"/>
              </a:rPr>
              <a:t>Cơ cấu mét lò đào theo nhóm đơn vị (m)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Mét lò đào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A56"/>
              </a:solidFill>
              <a:effectLst/>
            </c:spPr>
          </c:dPt>
          <c:dPt>
            <c:idx val="1"/>
            <c:bubble3D val="0"/>
            <c:spPr>
              <a:solidFill>
                <a:srgbClr val="7FA3C4"/>
              </a:solidFill>
              <a:effectLst/>
            </c:spPr>
          </c:dPt>
          <c:dPt>
            <c:idx val="2"/>
            <c:bubble3D val="0"/>
            <c:spPr>
              <a:solidFill>
                <a:srgbClr val="E3A21A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11 PX khai thác</c:v>
                </c:pt>
                <c:pt idx="1">
                  <c:v>6 PX đào lò</c:v>
                </c:pt>
                <c:pt idx="2">
                  <c:v>Thuê ngoài, đơn vị khác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7399.6</c:v>
                </c:pt>
                <c:pt idx="1">
                  <c:v>8291.5</c:v>
                </c:pt>
                <c:pt idx="2">
                  <c:v>2511.3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D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6"/>
                </a:solidFill>
                <a:latin typeface="+mn-lt"/>
              </a:rPr>
              <a:t>Than NK (tấn/tháng)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Than NK (tấn/tháng)</c:v>
                </c:pt>
              </c:strCache>
            </c:strRef>
          </c:tx>
          <c:spPr>
            <a:solidFill>
              <a:srgbClr val="7F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A3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A21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BQ đã đạt 9T</c:v>
                  </c:pt>
                  <c:pt idx="1">
                    <c:v>Cần Q.IV (QĐ 2675)</c:v>
                  </c:pt>
                  <c:pt idx="2">
                    <c:v>Cần Q.IV (3374)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201623.64</c:v>
                </c:pt>
                <c:pt idx="1">
                  <c:v>228462.41</c:v>
                </c:pt>
                <c:pt idx="2">
                  <c:v>245129.08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6"/>
                </a:solidFill>
                <a:latin typeface="+mn-lt"/>
              </a:rPr>
              <a:t>Mét lò đào (m/tháng)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Mét lò đào (m/tháng)</c:v>
                </c:pt>
              </c:strCache>
            </c:strRef>
          </c:tx>
          <c:spPr>
            <a:solidFill>
              <a:srgbClr val="7F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A3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A21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BQ đã đạt 9T</c:v>
                  </c:pt>
                  <c:pt idx="1">
                    <c:v>Cần Q.IV (QĐ 2675)</c:v>
                  </c:pt>
                  <c:pt idx="2">
                    <c:v>Cần Q.IV (3374)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2022.49</c:v>
                </c:pt>
                <c:pt idx="1">
                  <c:v>2675.87</c:v>
                </c:pt>
                <c:pt idx="2">
                  <c:v>2509.2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6"/>
                </a:solidFill>
                <a:latin typeface="+mn-lt"/>
              </a:rPr>
              <a:t>Mét lò xén (m/tháng)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Mét lò xén (m/tháng)</c:v>
                </c:pt>
              </c:strCache>
            </c:strRef>
          </c:tx>
          <c:spPr>
            <a:solidFill>
              <a:srgbClr val="7F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A3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A21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BQ đã đạt 9T</c:v>
                  </c:pt>
                  <c:pt idx="1">
                    <c:v>Cần Q.IV (QĐ 2675)</c:v>
                  </c:pt>
                  <c:pt idx="2">
                    <c:v>Cần Q.IV (3374)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572.3</c:v>
                </c:pt>
                <c:pt idx="1">
                  <c:v>783.1</c:v>
                </c:pt>
                <c:pt idx="2">
                  <c:v>658.1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7C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</a:rPr>
              <a:t>Công ty than Dương Huy - TKV   |   Phòng Kỹ thuật công nghệ mỏ   |   Báo cáo kết quả sản xuất 9 tháng năm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E3A21A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E6A7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chart" Target="/ppt/charts/chart19.xml"/><Relationship Id="rId3" Type="http://schemas.openxmlformats.org/officeDocument/2006/relationships/chart" Target="/ppt/charts/chart20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21A"/>
                </a:solidFill>
              </a:rPr>
              <a:t>CÔNG TY THAN DƯƠNG HUY - TKV   •   PHÒNG KỸ THUẬT CÔNG NGHỆ MỎ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KẾT QUẢ THỰC HIỆN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SẢN XUẤT 9 THÁNG NĂM 2026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3DD"/>
                </a:solidFill>
              </a:rPr>
              <a:t>Đánh giá, nguyên nhân – Nhiệm vụ, giải pháp quý IV năm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46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Báo cáo Giám đốc Công ty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3DD"/>
                </a:solidFill>
              </a:rPr>
              <a:t>Trình bày: Nguyễn Văn Thúy – Trưởng phòng KCM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3DD"/>
                </a:solidFill>
              </a:rPr>
              <a:t>Quảng Ninh, tháng 10/2026</a:t>
            </a:r>
            <a:endParaRPr lang="en-US" sz="1400" dirty="0"/>
          </a:p>
        </p:txBody>
      </p:sp>
      <p:sp>
        <p:nvSpPr>
          <p:cNvPr id="7" name="kpi-panel"/>
          <p:cNvSpPr/>
          <p:nvPr/>
        </p:nvSpPr>
        <p:spPr>
          <a:xfrm>
            <a:off x="8001000" y="868680"/>
            <a:ext cx="3566160" cy="5120640"/>
          </a:xfrm>
          <a:prstGeom prst="roundRect">
            <a:avLst>
              <a:gd name="adj" fmla="val 2564"/>
            </a:avLst>
          </a:prstGeom>
          <a:solidFill>
            <a:srgbClr val="22303F"/>
          </a:solidFill>
          <a:ln w="9525">
            <a:solidFill>
              <a:srgbClr val="2E3E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C2"/>
                </a:solidFill>
              </a:rPr>
              <a:t>KẾT QUẢ 9 THÁNG (TH / KH QĐ 2675)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D"/>
                </a:solidFill>
              </a:rPr>
              <a:t>Than nguyên khai hầm lò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1.814.612,8</a:t>
            </a:r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</a:rPr>
              <a:t>  tấn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267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6AE"/>
                </a:solidFill>
              </a:rPr>
              <a:t>72,6%</a:t>
            </a:r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</a:rPr>
              <a:t> kế hoạch năm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D"/>
                </a:solidFill>
              </a:rPr>
              <a:t>Mét lò đào CBSX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18.202,4</a:t>
            </a:r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</a:rPr>
              <a:t>  m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730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6AE"/>
                </a:solidFill>
              </a:rPr>
              <a:t>69,4%</a:t>
            </a:r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</a:rPr>
              <a:t> kế hoạch năm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D"/>
                </a:solidFill>
              </a:rPr>
              <a:t>Mét lò xén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663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5.150,7</a:t>
            </a:r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</a:rPr>
              <a:t>  m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5193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6AE"/>
                </a:solidFill>
              </a:rPr>
              <a:t>68,7%</a:t>
            </a:r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</a:rPr>
              <a:t> kế hoạch năm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NỘI DUNG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báo cáo</a:t>
            </a:r>
            <a:endParaRPr lang="en-US" sz="2400" dirty="0"/>
          </a:p>
        </p:txBody>
      </p:sp>
      <p:sp>
        <p:nvSpPr>
          <p:cNvPr id="4" name="muc-I"/>
          <p:cNvSpPr/>
          <p:nvPr/>
        </p:nvSpPr>
        <p:spPr>
          <a:xfrm>
            <a:off x="457200" y="169164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194560" y="2057400"/>
            <a:ext cx="594360" cy="594360"/>
          </a:xfrm>
          <a:prstGeom prst="ellipse">
            <a:avLst/>
          </a:prstGeom>
          <a:solidFill>
            <a:srgbClr val="1F3A56"/>
          </a:solidFill>
          <a:ln w="12700">
            <a:solidFill>
              <a:srgbClr val="1F3A5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194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17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thực hiện các chỉ tiêu chủ yếu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23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5"/>
                </a:solidFill>
              </a:rPr>
              <a:t>Sản lượng than, mét lò đào, mét lò xén; lũy kế so với tiến độ; chỉ tiêu công nghệ</a:t>
            </a:r>
            <a:endParaRPr lang="en-US" sz="1300" dirty="0"/>
          </a:p>
        </p:txBody>
      </p:sp>
      <p:sp>
        <p:nvSpPr>
          <p:cNvPr id="10" name="muc-II"/>
          <p:cNvSpPr/>
          <p:nvPr/>
        </p:nvSpPr>
        <p:spPr>
          <a:xfrm>
            <a:off x="3337560" y="169164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611880" y="1965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5074920" y="2057400"/>
            <a:ext cx="594360" cy="594360"/>
          </a:xfrm>
          <a:prstGeom prst="ellipse">
            <a:avLst/>
          </a:prstGeom>
          <a:solidFill>
            <a:srgbClr val="1F3A56"/>
          </a:solidFill>
          <a:ln w="12700">
            <a:solidFill>
              <a:srgbClr val="1F3A5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945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3017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theo công nghệ khai thác, đào lò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4023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5"/>
                </a:solidFill>
              </a:rPr>
              <a:t>Cơ cấu sản lượng, lò chợ CGH, giá khung, giàn mềm; vật liệu chống, cơ giới hóa đào lò, gia cố, tiêu hao vật tư</a:t>
            </a:r>
            <a:endParaRPr lang="en-US" sz="1300" dirty="0"/>
          </a:p>
        </p:txBody>
      </p:sp>
      <p:sp>
        <p:nvSpPr>
          <p:cNvPr id="16" name="muc-III"/>
          <p:cNvSpPr/>
          <p:nvPr/>
        </p:nvSpPr>
        <p:spPr>
          <a:xfrm>
            <a:off x="6217920" y="169164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492240" y="1965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800" dirty="0"/>
          </a:p>
        </p:txBody>
      </p:sp>
      <p:sp>
        <p:nvSpPr>
          <p:cNvPr id="18" name="Shape 14"/>
          <p:cNvSpPr/>
          <p:nvPr/>
        </p:nvSpPr>
        <p:spPr>
          <a:xfrm>
            <a:off x="7955280" y="2057400"/>
            <a:ext cx="594360" cy="594360"/>
          </a:xfrm>
          <a:prstGeom prst="ellipse">
            <a:avLst/>
          </a:prstGeom>
          <a:solidFill>
            <a:srgbClr val="1F3A56"/>
          </a:solidFill>
          <a:ln w="12700">
            <a:solidFill>
              <a:srgbClr val="1F3A5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1945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92240" y="3017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theo phân xưởng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4023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5"/>
                </a:solidFill>
              </a:rPr>
              <a:t>11 phân xưởng khai thác, 6 phân xưởng đào lò, đơn vị thuê ngoài</a:t>
            </a:r>
            <a:endParaRPr lang="en-US" sz="1300" dirty="0"/>
          </a:p>
        </p:txBody>
      </p:sp>
      <p:sp>
        <p:nvSpPr>
          <p:cNvPr id="22" name="muc-IV"/>
          <p:cNvSpPr/>
          <p:nvPr/>
        </p:nvSpPr>
        <p:spPr>
          <a:xfrm>
            <a:off x="9098280" y="169164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9372600" y="1965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4800" dirty="0"/>
          </a:p>
        </p:txBody>
      </p:sp>
      <p:sp>
        <p:nvSpPr>
          <p:cNvPr id="24" name="Shape 19"/>
          <p:cNvSpPr/>
          <p:nvPr/>
        </p:nvSpPr>
        <p:spPr>
          <a:xfrm>
            <a:off x="10835640" y="2057400"/>
            <a:ext cx="594360" cy="594360"/>
          </a:xfrm>
          <a:prstGeom prst="ellipse">
            <a:avLst/>
          </a:prstGeom>
          <a:solidFill>
            <a:srgbClr val="1F3A56"/>
          </a:solidFill>
          <a:ln w="12700">
            <a:solidFill>
              <a:srgbClr val="1F3A5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19456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72600" y="3017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Tồn tại, nguyên nhân – Nhiệm vụ, giải pháp quý IV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372600" y="40233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5"/>
                </a:solidFill>
              </a:rPr>
              <a:t>Khối lượng còn lại phải thực hiện, giải pháp, kiến nghị</a:t>
            </a:r>
            <a:endParaRPr lang="en-US" sz="1300" dirty="0"/>
          </a:p>
        </p:txBody>
      </p:sp>
      <p:sp>
        <p:nvSpPr>
          <p:cNvPr id="28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CĂN CỨ BÁO CÁO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Căn cứ, nguồn số liệu và quy ước tính toán</a:t>
            </a:r>
            <a:endParaRPr lang="en-US" sz="2400" dirty="0"/>
          </a:p>
        </p:txBody>
      </p:sp>
      <p:sp>
        <p:nvSpPr>
          <p:cNvPr id="4" name="Căn cứ"/>
          <p:cNvSpPr/>
          <p:nvPr/>
        </p:nvSpPr>
        <p:spPr>
          <a:xfrm>
            <a:off x="457200" y="160020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568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Căn cứ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0604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Quyết định số 2675/QĐ-TKV của Tập đoàn TKV (kế hoạch năm 2026).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Kế hoạch số 3374/KH-TKV của Tập đoàn TKV (kế hoạch phối hợp kinh doanh năm 2026).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Phương án kỹ thuật gia cố đường lò năm 2026 số 5342/TKCM-KCM.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Bảng tổng hợp khối lượng mỏ (KLM) thực hiện tháng 01 – 9/2026, chốt ngày 13/10/2026.</a:t>
            </a:r>
            <a:endParaRPr lang="en-US" sz="1350" dirty="0"/>
          </a:p>
        </p:txBody>
      </p:sp>
      <p:sp>
        <p:nvSpPr>
          <p:cNvPr id="9" name="Quy ước tính toán"/>
          <p:cNvSpPr/>
          <p:nvPr/>
        </p:nvSpPr>
        <p:spPr>
          <a:xfrm>
            <a:off x="6217920" y="1600200"/>
            <a:ext cx="5513832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9568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828800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ước tính toán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606040"/>
            <a:ext cx="49651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Tiến độ thời gian 9 tháng = 9/12 = 75,0%.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Tỷ lệ hoàn thành (%) = TH 9 tháng ÷ KH năm × 100.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Lũy kế KH theo tháng: phân bổ đều KH năm cho 12 tháng (file không có KH tháng).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Hệ số mét lò = mét lò đào CBSX ÷ sản lượng than × 1.000.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Số liệu thực hiện: cộng tháng 1–9 (sheet TKV, PHU_LUC cột G:Q).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733"/>
                </a:solidFill>
              </a:rPr>
              <a:t>Làm tròn 1 chữ số thập phân; màu đỏ: dưới 75% hoặc không đạt, màu xanh: từ 75% trở lên.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3_TONG_HOP_KLM/B1.BC_TKV_T9-2026_13-10-2026_9-thang-CHOT.xlsx</a:t>
            </a:r>
            <a:endParaRPr lang="en-US" sz="950" dirty="0"/>
          </a:p>
        </p:txBody>
      </p:sp>
      <p:sp>
        <p:nvSpPr>
          <p:cNvPr id="15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C2"/>
                </a:solidFill>
              </a:rPr>
              <a:t>PHẦN 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THỰC HIỆN CÁC CHỈ TIÊU CHỦ YẾU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Tổng quan và bảng chỉ tiêu chủ yếu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Sản lượng than, mét lò đào, mét lò xén theo tháng, quý, lũy kế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Các chỉ tiêu công nghệ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I. KẾT QUẢ CÁC CHỈ TIÊU CHỦ YẾU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9 tháng: các chỉ tiêu chính chưa đạt tiến độ 75%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Tiến độ thời gian 9 tháng = 75,0%. Tỷ lệ % = TH 9 tháng ÷ KH năm × 100. Vạch vàng trên thanh tiến độ = mốc 75%.</a:t>
            </a:r>
            <a:endParaRPr lang="en-US" sz="1200" dirty="0"/>
          </a:p>
        </p:txBody>
      </p:sp>
      <p:sp>
        <p:nvSpPr>
          <p:cNvPr id="5" name="kpi-0"/>
          <p:cNvSpPr/>
          <p:nvPr/>
        </p:nvSpPr>
        <p:spPr>
          <a:xfrm>
            <a:off x="457200" y="155448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755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6A75"/>
                </a:solidFill>
              </a:rPr>
              <a:t>THAN NGUYÊN KHAI HẦM LÒ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1.814.612,8</a:t>
            </a:r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tấn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QĐ 2675: 2.500.000 tấn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72,6%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91256"/>
            <a:ext cx="3063240" cy="128016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91256"/>
            <a:ext cx="2223912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5234" y="3136392"/>
            <a:ext cx="27432" cy="237744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5387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KH 3374: 2.550.000 tấn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538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71,2%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849624"/>
            <a:ext cx="3063240" cy="128016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49624"/>
            <a:ext cx="2181027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5234" y="3794760"/>
            <a:ext cx="27432" cy="237744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18" name="kpi-1"/>
          <p:cNvSpPr/>
          <p:nvPr/>
        </p:nvSpPr>
        <p:spPr>
          <a:xfrm>
            <a:off x="4274820" y="155448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49140" y="1755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6A75"/>
                </a:solidFill>
              </a:rPr>
              <a:t>MÉT LÒ ĐÀO CBSX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49140" y="2057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18.202,4</a:t>
            </a:r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4549140" y="28803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QĐ 2675: 26.230 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9798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69,4%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49140" y="3191256"/>
            <a:ext cx="3063240" cy="128016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9140" y="3191256"/>
            <a:ext cx="2125889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2854" y="3136392"/>
            <a:ext cx="27432" cy="237744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49140" y="35387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KH 3374: 25.730 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97980" y="3538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70,7%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49140" y="3849624"/>
            <a:ext cx="3063240" cy="128016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49140" y="3849624"/>
            <a:ext cx="2165711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2854" y="3794760"/>
            <a:ext cx="27432" cy="237744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31" name="kpi-2"/>
          <p:cNvSpPr/>
          <p:nvPr/>
        </p:nvSpPr>
        <p:spPr>
          <a:xfrm>
            <a:off x="8092440" y="155448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366760" y="1755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6A75"/>
                </a:solidFill>
              </a:rPr>
              <a:t>MÉT LÒ XÉN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057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5.150,7</a:t>
            </a:r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</a:t>
            </a:r>
            <a:endParaRPr lang="en-US" sz="36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28803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QĐ 2675: 7.500 m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68,7%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366760" y="3191256"/>
            <a:ext cx="3063240" cy="128016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66760" y="3191256"/>
            <a:ext cx="210444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50474" y="3136392"/>
            <a:ext cx="27432" cy="237744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66760" y="35387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KH 3374: 7.125 m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0" y="3538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72,3%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366760" y="3849624"/>
            <a:ext cx="3063240" cy="128016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66760" y="3849624"/>
            <a:ext cx="2214723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50474" y="3794760"/>
            <a:ext cx="27432" cy="237744"/>
          </a:xfrm>
          <a:prstGeom prst="rect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44" name="kpi2-0"/>
          <p:cNvSpPr/>
          <p:nvPr/>
        </p:nvSpPr>
        <p:spPr>
          <a:xfrm>
            <a:off x="457200" y="4526280"/>
            <a:ext cx="2674620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8368" y="4663440"/>
            <a:ext cx="2272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</a:rPr>
              <a:t>Độ tro BQ than NK hầm lò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965192"/>
            <a:ext cx="2272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</a:rPr>
              <a:t>38,1%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5486400"/>
            <a:ext cx="2272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</a:rPr>
              <a:t>KH 36,5% → cao hơn 1,6 điểm %</a:t>
            </a:r>
            <a:endParaRPr lang="en-US" sz="1100" dirty="0"/>
          </a:p>
        </p:txBody>
      </p:sp>
      <p:sp>
        <p:nvSpPr>
          <p:cNvPr id="48" name="kpi2-1"/>
          <p:cNvSpPr/>
          <p:nvPr/>
        </p:nvSpPr>
        <p:spPr>
          <a:xfrm>
            <a:off x="3314700" y="4526280"/>
            <a:ext cx="2674620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515868" y="4663440"/>
            <a:ext cx="2272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</a:rPr>
              <a:t>Hệ số mét lò CBSX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3515868" y="4965192"/>
            <a:ext cx="2272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6"/>
                </a:solidFill>
              </a:rPr>
              <a:t>10,03 m/1000 T</a:t>
            </a:r>
            <a:endParaRPr lang="en-US" sz="2400" dirty="0"/>
          </a:p>
        </p:txBody>
      </p:sp>
      <p:sp>
        <p:nvSpPr>
          <p:cNvPr id="51" name="Text 49"/>
          <p:cNvSpPr txBox="1"/>
          <p:nvPr/>
        </p:nvSpPr>
        <p:spPr>
          <a:xfrm>
            <a:off x="3515868" y="5486400"/>
            <a:ext cx="2272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</a:rPr>
              <a:t>KH 10,49 (QĐ 2675) / 10,09 (3374)</a:t>
            </a:r>
            <a:endParaRPr lang="en-US" sz="1100" dirty="0"/>
          </a:p>
        </p:txBody>
      </p:sp>
      <p:sp>
        <p:nvSpPr>
          <p:cNvPr id="52" name="kpi2-2"/>
          <p:cNvSpPr/>
          <p:nvPr/>
        </p:nvSpPr>
        <p:spPr>
          <a:xfrm>
            <a:off x="6172200" y="4526280"/>
            <a:ext cx="2674620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73368" y="4663440"/>
            <a:ext cx="2272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</a:rPr>
              <a:t>Tổn thất khai thác hầm lò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373368" y="4965192"/>
            <a:ext cx="2272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449"/>
                </a:solidFill>
              </a:rPr>
              <a:t>19,08%</a:t>
            </a:r>
            <a:endParaRPr lang="en-US" sz="2400" dirty="0"/>
          </a:p>
        </p:txBody>
      </p:sp>
      <p:sp>
        <p:nvSpPr>
          <p:cNvPr id="55" name="Text 53"/>
          <p:cNvSpPr txBox="1"/>
          <p:nvPr/>
        </p:nvSpPr>
        <p:spPr>
          <a:xfrm>
            <a:off x="6373368" y="5486400"/>
            <a:ext cx="2272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</a:rPr>
              <a:t>KH 19,14% → đạt</a:t>
            </a:r>
            <a:endParaRPr lang="en-US" sz="1100" dirty="0"/>
          </a:p>
        </p:txBody>
      </p:sp>
      <p:sp>
        <p:nvSpPr>
          <p:cNvPr id="56" name="kpi2-3"/>
          <p:cNvSpPr/>
          <p:nvPr/>
        </p:nvSpPr>
        <p:spPr>
          <a:xfrm>
            <a:off x="9029700" y="4526280"/>
            <a:ext cx="2674620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230868" y="4663440"/>
            <a:ext cx="2272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75"/>
                </a:solidFill>
              </a:rPr>
              <a:t>Bình quân than / tháng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230868" y="4965192"/>
            <a:ext cx="2272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6"/>
                </a:solidFill>
              </a:rPr>
              <a:t>201.623,6 t</a:t>
            </a:r>
            <a:endParaRPr lang="en-US" sz="2400" dirty="0"/>
          </a:p>
        </p:txBody>
      </p:sp>
      <p:sp>
        <p:nvSpPr>
          <p:cNvPr id="59" name="Text 57"/>
          <p:cNvSpPr txBox="1"/>
          <p:nvPr/>
        </p:nvSpPr>
        <p:spPr>
          <a:xfrm>
            <a:off x="9230868" y="5486400"/>
            <a:ext cx="2272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</a:rPr>
              <a:t>Quý IV cần 228.462,4 t/tháng (QĐ 2675)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85, 104, 114 (cộng T1–T9); sheet PHU_LUC cột E (QĐ 2675), F (3374), ô V30, V119, V131.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I. KẾT QUẢ CÁC CHỈ TIÊU CHỦ YẾU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tổng hợp kết quả thực hiện các chỉ tiêu chủ yếu 9 tháng năm 2026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291840"/>
                <a:gridCol w="1051560"/>
                <a:gridCol w="1417320"/>
                <a:gridCol w="1325880"/>
                <a:gridCol w="1417320"/>
                <a:gridCol w="1133856"/>
                <a:gridCol w="113385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tiêu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ĐVT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năm (QĐ 2675)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năm (3374)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9 tháng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KH QĐ 2675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KH 3374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nguyên khai hầm lò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1.814.612,8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 lò đào CBSX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18.202,4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Lò đá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6.209,65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Lò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11.992,75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 lò xén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5.150,7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Xén trong đá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3.415,35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Xén trong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1.735,35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số mét lò CBSX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m/1000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tro BQ than NK hầm lò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 thất khai thác hầm lò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uu-y"/>
          <p:cNvSpPr/>
          <p:nvPr/>
        </p:nvSpPr>
        <p:spPr>
          <a:xfrm>
            <a:off x="457200" y="553212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21A"/>
                </a:solidFill>
              </a:rPr>
              <a:t>Lưu ý: </a:t>
            </a:r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tô màu tỷ lệ chỉ áp dụng cho chỉ tiêu khối lượng (dòng 1–3, so với mốc 75%). Độ tro 104,4% nghĩa là vượt KH (không đạt); tổn thất 99,7% là đạt.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12648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85, 96, 100, 104, 105, 109, 114; sheet PHU_LUC cột E, F, dòng 15–97, 119, 131; ô V30.</a:t>
            </a:r>
            <a:endParaRPr lang="en-US" sz="950" dirty="0"/>
          </a:p>
        </p:txBody>
      </p:sp>
      <p:sp>
        <p:nvSpPr>
          <p:cNvPr id="8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I. KẾT QUẢ CÁC CHỈ TIÊU CHỦ YẾU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lượng than theo tháng: quý III thấp nhất, giảm 82.975,1 tấn so với quý II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tấn. Đường nét đứt: bình quân tháng theo KH năm QĐ 2675 = 2.500.000 ÷ 12 = 208.333,3 tấn.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96512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146304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NK (tấn)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BQ/tháng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622.411,2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207.470,4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637.588,3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212.529,4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554.613,3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184.871,1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 9 tháng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1.814.612,8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201.623,6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7635240" y="3429000"/>
            <a:ext cx="4096512" cy="260604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36408" y="35570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836408" y="3886200"/>
            <a:ext cx="369417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Cao nhất: tháng 3 – 248.107,8 tấn; thấp nhất: tháng 2 – 143.953,8 tấn.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Quý III giảm 82.975,1 tấn (-13,0%) so với quý II.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Từ tháng 5 đến tháng 9, sản lượng các tháng đều thấp hơn mức bình quân KH năm.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114 (Than hầm lò), cột G:O.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I. KẾT QUẢ CÁC CHỈ TIÊU CHỦ YẾU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Lũy kế sản lượng than: đến hết tháng 9 thấp hơn tiến độ KH 60.387,2 tấn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tấn. KH lũy kế = 2.500.000 ÷ 12 × số tháng (phân bổ đều, theo QĐ 2675).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9651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61288"/>
                <a:gridCol w="1152144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lũy kế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lũy kế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Chênh lệch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622.411,2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625.000,0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-2.588,8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1.259.999,5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1.250.000,0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9.999,5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1.814.612,8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1.875.000,0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-60.387,2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7635240" y="3200400"/>
            <a:ext cx="4096512" cy="2834640"/>
          </a:xfrm>
          <a:prstGeom prst="roundRect">
            <a:avLst>
              <a:gd name="adj" fmla="val 258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36408" y="33284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836408" y="3657600"/>
            <a:ext cx="369417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Hết quý I: thấp hơn tiến độ 2.588,8 tấn.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Hết quý II: vượt tiến độ 9.999,5 tấn.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Hết tháng 9: thấp hơn tiến độ 60.387,2 tấn (QĐ 2675); so với KH 3374: thấp hơn tiến độ 97.887,2 tấn.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114 (cộng dồn T1–T9); KH: sheet PHU_LUC ô E15, F15.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I. KẾT QUẢ CÁC CHỈ TIÊU CHỦ YẾU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 lò đào CBSX theo tháng: tháng 9 đạt 2.459,9 m – cao nhất từ đầu năm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m. Mét lò đào CBSX = lò đá + lò than. Đường nét đứt: BQ tháng theo KH QĐ 2675 = 26.230 ÷ 12 = 2.185,8 m.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9651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51560"/>
                <a:gridCol w="1033272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đào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đá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than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6.120,4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1.976,80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4.143,60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5.779,7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1.933,20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3.846,50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6.302,3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2.299,65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4.002,65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 9T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18.202,4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6.209,65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11.992,75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7635240" y="3429000"/>
            <a:ext cx="4096512" cy="260604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36408" y="35570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836408" y="3886200"/>
            <a:ext cx="369417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Quý III đạt 6.302,3 m – cao nhất 3 quý.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Lò đá đạt 73,0% KH; lò than đạt 67,7% KH (QĐ 2675).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Chỉ tháng 1, 3, 8, 9 đạt trên mức bình quân KH năm.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85 (mét lò đào), 96 (qua đá), 100 (qua than), cột G:O.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I. KẾT QUẢ CÁC CHỈ TIÊU CHỦ YẾU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Lũy kế mét lò đào: hết tháng 9 thấp hơn tiến độ KH 1.470,1 m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m. KH lũy kế = 26.230 ÷ 12 × số tháng (phân bổ đều, theo QĐ 2675).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9651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61288"/>
                <a:gridCol w="1152144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lũy kế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lũy kế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Chênh lệch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6.120,4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6.557,5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-437,1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11.900,1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13.115,0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-1.214,9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18.202,4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19.672,5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-1.470,1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7635240" y="3200400"/>
            <a:ext cx="4096512" cy="2834640"/>
          </a:xfrm>
          <a:prstGeom prst="roundRect">
            <a:avLst>
              <a:gd name="adj" fmla="val 258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36408" y="33284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836408" y="3657600"/>
            <a:ext cx="369417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Hết quý I: thấp hơn tiến độ 437,1 m.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Hết quý II: thấp hơn tiến độ 1.214,9 m.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Hết tháng 9: thấp hơn tiến độ 1.470,1 m (QĐ 2675); so với KH 3374: thấp hơn tiến độ 1.095,1 m.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85 (cộng dồn T1–T9); KH: sheet PHU_LUC ô E39, F39.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I. KẾT QUẢ CÁC CHỈ TIÊU CHỦ YẾU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 lò xén: đạt 68,7% KH; xén trong than chỉ đạt 50,5%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m. Mét lò xén = xén trong đá + xén trong than.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96512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603504"/>
                <a:gridCol w="603504"/>
                <a:gridCol w="713232"/>
                <a:gridCol w="594360"/>
                <a:gridCol w="594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tiêu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2675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3374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9T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2675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3374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 lò xén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5.150,7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Trong đá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3.415,35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Trong than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1.735,35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3063240"/>
          <a:ext cx="4096512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777240"/>
                <a:gridCol w="777240"/>
                <a:gridCol w="77724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BQ/tháng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xén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1.527,4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1.900,3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572,3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nhan-xet"/>
          <p:cNvSpPr/>
          <p:nvPr/>
        </p:nvSpPr>
        <p:spPr>
          <a:xfrm>
            <a:off x="7635240" y="3886200"/>
            <a:ext cx="4096512" cy="2148840"/>
          </a:xfrm>
          <a:prstGeom prst="roundRect">
            <a:avLst>
              <a:gd name="adj" fmla="val 340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836408" y="40142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836408" y="4343400"/>
            <a:ext cx="369417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Tháng 8 cao nhất (742,2 m); tháng 5 thấp nhất (295,8 m).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Quý III đạt 1.900,3 m – cao nhất 3 quý.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Xén trong đá vượt tiến độ (84,1%); xén trong than chậm, cần ưu tiên quý IV.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104, 105, 109, cột G:O; KH: sheet PHU_LUC dòng 92, 96, 97, cột E, F.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I. KẾT QUẢ CÁC CHỈ TIÊU CHỦ YẾU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chỉ tiêu công nghệ chủ yếu 9 tháng năm 2026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So với KH theo QĐ 2675.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914400"/>
                <a:gridCol w="100584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tiêu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ĐVT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năm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9 tháng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số mét lò CBSX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m/1000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lò đá / tổng lò CBSX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lò chống sắt / tổng lò CBSX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lò chống neo / tổng lò CBSX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lò chống gỗ / tổng lò CBSX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 lò xén / 1000 tấn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m/1000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Tiết diện bình quân lò đá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Tiết diện bình quân lò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 thất khai thác hầm lò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Thể trọng than NK hầm lò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tấn/m³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han-xet"/>
          <p:cNvSpPr/>
          <p:nvPr/>
        </p:nvSpPr>
        <p:spPr>
          <a:xfrm>
            <a:off x="7635240" y="1508760"/>
            <a:ext cx="4096512" cy="4526280"/>
          </a:xfrm>
          <a:prstGeom prst="roundRect">
            <a:avLst>
              <a:gd name="adj" fmla="val 178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36408" y="163677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36408" y="1965960"/>
            <a:ext cx="3694176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</a:rPr>
              <a:t>Hệ số mét lò 10,03 m/1000 T, thấp hơn KH (10,49) do mét lò đào chậm hơn sản lượng (69,4% so với 72,6%).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</a:rPr>
              <a:t>Tỷ lệ lò đá 34,11%, cao hơn KH 32,44%.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</a:rPr>
              <a:t>Tỷ lệ lò chống neo 4,73%, cao hơn KH 3,81% nhưng chủ yếu thực hiện trong 6 tháng đầu năm.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</a:rPr>
              <a:t>Tổn thất khai thác 19,08%, đạt KH (≤ 19,14%).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</a:rPr>
              <a:t>Tiết diện lò đá, lò than bám sát KH.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PHU_LUC dòng 58, 62, 119–125, 131, 134 (cột E: KH, V: TH, W: tỷ lệ). Đã kiểm tra lại: 18.202,4 ÷ 1.814,6 = 10,03; 6.209,65 ÷ 18.202,4 = 34,11%.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C2"/>
                </a:solidFill>
              </a:rPr>
              <a:t>PHẦN II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THEO CÔNG NGHỆ KHAI THÁC, ĐÀO LÒ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Cơ cấu sản lượng theo công nghệ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Lò chợ cơ giới hóa, giá khung – giá xích, giàn mềm, DVPT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Đào lò theo vật liệu chống, cơ giới hóa; tự làm – thuê ngoài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Gia cố đường lò; tiêu hao vật tư chủ yếu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II. KẾT QUẢ THEO CÔNG NGHỆ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cấu sản lượng than 9 tháng theo công nghệ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Tỷ trọng % = sản lượng công nghệ ÷ tổng sản lượng × 100; % KH so với QĐ 2675.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4572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50876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A75"/>
                </a:solidFill>
              </a:rPr>
              <a:t>Tổng</a:t>
            </a:r>
            <a:endParaRPr lang="en-US" sz="1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A56"/>
                </a:solidFill>
              </a:rPr>
              <a:t>1.814.612,8 t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508760"/>
          <a:ext cx="64739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325880"/>
                <a:gridCol w="868680"/>
                <a:gridCol w="9875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nghệ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năm (t)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9T (t)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trọng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khung, giá xích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1.269.200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884.485,8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CGH hạng trung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426.000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393.720,9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đào lò CBSX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302.680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230.692,3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CGH hạng nhẹ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306.000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171.094,1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Giàn mềm ZRY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82.283,4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xén, hạ nền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36.580,0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DVPT, ngang nghiêng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15.756,3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cộng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1.814.612,8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8" name="nhan-xet"/>
          <p:cNvSpPr/>
          <p:nvPr/>
        </p:nvSpPr>
        <p:spPr>
          <a:xfrm>
            <a:off x="5257800" y="4846320"/>
            <a:ext cx="6473952" cy="1188720"/>
          </a:xfrm>
          <a:prstGeom prst="roundRect">
            <a:avLst>
              <a:gd name="adj" fmla="val 615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58968" y="4974336"/>
            <a:ext cx="607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58968" y="5303520"/>
            <a:ext cx="6071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Than lò chợ chiếm 85,3% sản lượng; riêng giá khung, giá xích 48,7%.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Than xén, hạ nền vượt 2,6 lần KH năm do mét lò xén qua than, hạ nền phát sinh nhiều.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PHU_LUC dòng 21–28 (cột G:Q, E); sheet TKV dòng 116–119.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II. KẾT QUẢ THEO CÔNG NGHỆ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Lò chợ cơ giới hóa: đạt 77,2% KH; CGH hạng nhẹ dừng từ tháng 7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tấn. KH năm: CGH hạng trung 426.000 t; CGH hạng nhẹ 306.000 t (QĐ 2675).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9651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97280"/>
                <a:gridCol w="1033272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Hạng trung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Hạng nhẹ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 CGH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149.506,7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49.948,2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199.454,9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78.034,4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121.145,9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199.180,2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166.179,8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166.179,8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393.720,9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171.094,1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564.815,0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7635240" y="3657600"/>
            <a:ext cx="4096512" cy="2377440"/>
          </a:xfrm>
          <a:prstGeom prst="roundRect">
            <a:avLst>
              <a:gd name="adj" fmla="val 307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36408" y="37856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836408" y="4114800"/>
            <a:ext cx="36941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CGH hạng trung đạt 92,4% KH năm – đã vượt tiến độ.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Tháng 5, 6 CGH hạng trung giảm mạnh (8.552,7 t; 18.726,8 t).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CGH hạng nhẹ không có sản lượng tháng 7, 8, 9.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PHU_LUC dòng 20–22, cột G:Q; sheet TKV dòng 193 (PX7 CGH2: 207.793,0 t; PX8 CGH1: 357.021,9 t).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II. KẾT QUẢ THEO CÔNG NGHỆ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Lò chợ giá khung, giá xích đạt 69,7%; giàn mềm ZRY đạt 49,3% KH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tấn. Biểu đồ trái: giá khung, giá xích; biểu đồ phải: giàn mềm ZRY và DVPT, ngang nghiêng.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72200" y="141732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4552" cy="914400"/>
        </p:xfrm>
        <a:graphic>
          <a:graphicData uri="http://schemas.openxmlformats.org/drawingml/2006/table">
            <a:tbl>
              <a:tblPr/>
              <a:tblGrid>
                <a:gridCol w="2587752"/>
                <a:gridCol w="1463040"/>
                <a:gridCol w="1463040"/>
                <a:gridCol w="1463040"/>
                <a:gridCol w="1463040"/>
                <a:gridCol w="15544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nghệ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năm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tháng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KH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khung, giá xích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1.269.200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289.972,4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322.525,6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271.987,8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884.485,8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Giàn mềm ZRY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39.665,9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25.787,9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16.829,6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82.283,4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DVPT, ngang nghiêng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1.271,8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2.787,1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11.697,4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15.756,3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PHU_LUC dòng 23, 24, 25, cột G:Q, E. Lò chợ giàn mềm ZRY do PX3 thực hiện (sheet TKV ô I192).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II. KẾT QUẢ THEO CÔNG NGHỆ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đào lò CBSX đạt 76,2% KH; than xén, hạ nền vượt KH năm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tấn.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9651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22960"/>
                <a:gridCol w="1005840"/>
                <a:gridCol w="66751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tiêu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năm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9T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KH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đào lò CBSX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302.680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230.692,3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xén lò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30.203,8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hạ nền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6.376,2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 xén + hạ nền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36.580,0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7635240" y="3429000"/>
            <a:ext cx="4096512" cy="260604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36408" y="35570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836408" y="3886200"/>
            <a:ext cx="369417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Than đào lò bình quân 12,7 tấn/m lò đào CBSX.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Tháng 9 than đào lò đạt 29.649,0 t, cao nhất từ tháng 4.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KH than xén, hạ nền chỉ 14.120 t – đề nghị xem lại khi lập KH năm 2027.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116, 117, 118, cột G:O; KH: sheet PHU_LUC ô E27, E28. Than/m lò = 230.692,3 ÷ 18.202,4.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II. KẾT QUẢ THEO CÔNG NGHỆ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 lò đào theo vật liệu chống: chống neo gần như dừng trong quý III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m. So với KH năm theo QĐ 2675.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54480"/>
          <a:ext cx="5148072" cy="914400"/>
        </p:xfrm>
        <a:graphic>
          <a:graphicData uri="http://schemas.openxmlformats.org/drawingml/2006/table">
            <a:tbl>
              <a:tblPr/>
              <a:tblGrid>
                <a:gridCol w="896112"/>
                <a:gridCol w="713232"/>
                <a:gridCol w="713232"/>
                <a:gridCol w="713232"/>
                <a:gridCol w="713232"/>
                <a:gridCol w="804672"/>
                <a:gridCol w="594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Vật liệu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năm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tháng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KH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Chống sắt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5.366,7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5.252,2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6.163,1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16.782,0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Chống neo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861,6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Chống gỗ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558,8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6.120,4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5.779,7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6.302,3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18.202,4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6583680" y="3429000"/>
            <a:ext cx="5148072" cy="260604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84848" y="3557016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784848" y="3886200"/>
            <a:ext cx="474573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Chống neo: quý I 401,5 m, quý II 454,5 m, quý III chỉ 5,6 m (tháng 9).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Lò chống neo 9 tháng đạt 86,2% KH năm nhờ khối lượng 6 tháng đầu năm.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Lò chống sắt chiếm 92,2% tổng mét lò đào.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PHU_LUC dòng 66–69, cột G:Q, E. Lò chống sắt = tổng mét lò đào − chống neo − chống gỗ.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II. KẾT QUẢ THEO CÔNG NGHỆ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giới hóa đào lò: combai EBH-45 dừng từ tháng 6, bán CGH đạt 87,0% KH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m. EBH-45: đào CGH đồng bộ lò than (PX12 – CGĐB); bán CGH: xe khoan + máy xúc (PX13 – BCG và HL1).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96512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731520"/>
                <a:gridCol w="777240"/>
                <a:gridCol w="640080"/>
                <a:gridCol w="685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tiêu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năm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9T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KH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BQ/tháng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Combai EBH-45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Bán CGH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1.027,0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7635240" y="2697480"/>
            <a:ext cx="4096512" cy="3337560"/>
          </a:xfrm>
          <a:prstGeom prst="roundRect">
            <a:avLst>
              <a:gd name="adj" fmla="val 2192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36408" y="282549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836408" y="3154680"/>
            <a:ext cx="369417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EBH-45 thực hiện 459,9 m trong tháng 1–5; tháng 6–9 không có khối lượng.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Để đạt KH năm, quý IV EBH-45 phải đào 740,1 m (246,7 m/tháng).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Bán CGH ổn định, BQ 114,1 m/tháng; còn 153,0 m để đạt KH năm.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Tỷ lệ đào lò cơ giới hóa (EBH + bán CGH) = 8,2% tổng mét lò đào.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PHU_LUC dòng 64, 65, cột G:Q, E; sheet TKV dòng 205, 206 (theo phân xưởng).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II. KẾT QUẢ THEO CÔNG NGHỆ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Đào lò tự làm 86,2%, thuê ngoài 13,8%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m.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54480"/>
          <a:ext cx="514807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914400"/>
                <a:gridCol w="914400"/>
                <a:gridCol w="960120"/>
                <a:gridCol w="9601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tiêu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làm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Thuê ngoài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thuê ngoài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 lò đào CBSX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15.691,1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2.511,3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18.202,4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Lò đá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4.201,95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2.007,7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6.209,65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3A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Lò than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11.489,15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11.992,75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 lò xén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4.379,7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5.150,7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6583680" y="3429000"/>
            <a:ext cx="5148072" cy="260604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84848" y="3557016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784848" y="3886200"/>
            <a:ext cx="4745736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Thuê ngoài tập trung đào lò đá: 32,3% khối lượng lò đá.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Tháng 9 thuê ngoài đạt 437,0 m, cao nhất từ đầu năm.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Đơn vị thuê ngoài: HL1, PTH, QN, VN.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PHU_LUC dòng 40–41, 56–57, 60–61, 93–94 (cộng cột G:Q). Lưu ý: ô V56, V57, V60, V61 không khớp cộng tháng – báo cáo dùng số cộng tháng (khớp sheet TKV ô AF/AG 167, 171).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II. KẾT QUẢ THEO CÔNG NGHỆ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 cố đường lò: neo cáp, chống đội vượt KH; ép vữa, ép hóa chất, bê tông chậm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m. So với PA kỹ thuật gia cố đường lò năm 2026 số 5342/TKCM-KCM. Biểu đồ: % hoàn thành KH năm.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554480"/>
          <a:ext cx="6062472" cy="914400"/>
        </p:xfrm>
        <a:graphic>
          <a:graphicData uri="http://schemas.openxmlformats.org/drawingml/2006/table">
            <a:tbl>
              <a:tblPr/>
              <a:tblGrid>
                <a:gridCol w="1764792"/>
                <a:gridCol w="658368"/>
                <a:gridCol w="658368"/>
                <a:gridCol w="658368"/>
                <a:gridCol w="658368"/>
                <a:gridCol w="841248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Hạng mục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năm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tháng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KH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Khoan neo cáp gia cố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922,8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1.621,0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216,1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Chống đội, đánh khuôn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631,9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127,8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1.114,0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Khoan ép vữa xi măng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184,5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327,5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Khoan ép hóa chất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Đổ bê tông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Chống dặm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5669280" y="4023360"/>
            <a:ext cx="6062472" cy="2011680"/>
          </a:xfrm>
          <a:prstGeom prst="roundRect">
            <a:avLst>
              <a:gd name="adj" fmla="val 363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70448" y="4151376"/>
            <a:ext cx="5660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870448" y="4480560"/>
            <a:ext cx="56601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733"/>
                </a:solidFill>
              </a:rPr>
              <a:t>Quý III: ép vữa 49,5 m, ép hóa chất 0 m, đổ bê tông 0 m.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733"/>
                </a:solidFill>
              </a:rPr>
              <a:t>Khối lượng neo cáp, chống đội giảm mạnh trong tháng 8, 9.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733"/>
                </a:solidFill>
              </a:rPr>
              <a:t>Ô cột V sheet PHU_LUC ghi tay (neo cáp 1.800; ép vữa 500; chống đội 1.300; ép HC 175; bê tông 625) không khớp cộng tháng – báo cáo dùng số cộng tháng.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PHU_LUC dòng 110–115, cột G:Q, E; đối chiếu sheet TKV dòng 130, 131, 136–138.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II. KẾT QUẢ THEO CÔNG NGHỆ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Tiêu hao vật tư chủ yếu 9 tháng năm 2026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So với định mức KH năm (QĐ 2675). Tỷ lệ &lt; 100% là tiết kiệm so với KH.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1005840"/>
                <a:gridCol w="1143000"/>
                <a:gridCol w="96012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Vật tư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ĐVT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9 tháng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Thuốc nổ trong hầm lò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kg/10³T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209,80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Khai thác lò chợ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kg/10³T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Đào lò than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Đào lò đá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Gỗ khai thác hầm lò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m³/10³T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Lò chợ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m³/10³T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Lò CBSX chống gỗ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m³/m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– Lò CBSX chống sắt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m³/m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Thép chống lò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530,20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Điện năng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KW/10³T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Dầu nhũ hóa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Lít/10³T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127,80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111,42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Lưới thép B50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kg/10³T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561,60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406,07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han-xet"/>
          <p:cNvSpPr/>
          <p:nvPr/>
        </p:nvSpPr>
        <p:spPr>
          <a:xfrm>
            <a:off x="7635240" y="1463040"/>
            <a:ext cx="4096512" cy="2423160"/>
          </a:xfrm>
          <a:prstGeom prst="roundRect">
            <a:avLst>
              <a:gd name="adj" fmla="val 301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36408" y="15910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36408" y="1920240"/>
            <a:ext cx="369417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Thuốc nổ, gỗ, điện năng, dầu nhũ hóa, lưới thép đều thấp hơn định mức KH.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Thép chống lò 530,2 kg/m, vượt KH 522 kg/m (101,6%).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Thuốc nổ hầm lò 153,0 kg/10³T, bằng 72,9% KH.</a:t>
            </a:r>
            <a:endParaRPr lang="en-US" sz="1200" dirty="0"/>
          </a:p>
        </p:txBody>
      </p:sp>
      <p:sp>
        <p:nvSpPr>
          <p:cNvPr id="9" name="canh-bao"/>
          <p:cNvSpPr/>
          <p:nvPr/>
        </p:nvSpPr>
        <p:spPr>
          <a:xfrm>
            <a:off x="7635240" y="4069080"/>
            <a:ext cx="4096512" cy="1965960"/>
          </a:xfrm>
          <a:prstGeom prst="roundRect">
            <a:avLst>
              <a:gd name="adj" fmla="val 3721"/>
            </a:avLst>
          </a:prstGeom>
          <a:solidFill>
            <a:srgbClr val="FBEFEA"/>
          </a:solidFill>
          <a:ln w="9525">
            <a:solidFill>
              <a:srgbClr val="E9B8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36408" y="4224528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76" y="430682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21040" y="422452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</a:rPr>
              <a:t>LƯU Ý ĐỘ TIN CẬY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836408" y="4709160"/>
            <a:ext cx="3694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</a:rPr>
              <a:t>Các ô tiêu hao trong sheet PHU_LUC (cột V) không có số chi tiết tháng để đối chiếu; một số ô tháng báo lỗi #VALUE!/#REF!. Đề nghị bộ phận vật tư xác nhận trước khi dùng chính thức.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PHU_LUC dòng 143–156 (cột D: ĐVT, E: KH, V: TH, W: tỷ lệ).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C2"/>
                </a:solidFill>
              </a:rPr>
              <a:t>PHẦN III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THEO PHÂN XƯỞNG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11 phân xưởng khai thác: sản lượng, cơ cấu công nghệ lò chợ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6 phân xưởng đào lò và đơn vị thuê ngoài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Lưu ý: file chưa có KH giao theo phân xưởng nên chưa đánh giá % hoàn thành từng đơn vị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III. KẾT QUẢ THEO PHÂN XƯỞNG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11 phân xưởng khai thác: 1.656.144,6 tấn = 91,3% sản lượng Công ty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Đơn vị: tấn, lũy kế 9 tháng. Màu vàng: 2 phân xưởng cơ giới hóa.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554480"/>
          <a:ext cx="4096512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137160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xưởng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NK (t)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trọng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PX8 (CGH1)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361.820,6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PX7 (CGH2)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212.071,4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PX4 (Than 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165.862,2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PX6 (Than 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146.543,2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PX10 (Than 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146.446,8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 11 PX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1.656.144,6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7635240" y="4069080"/>
            <a:ext cx="4096512" cy="1965960"/>
          </a:xfrm>
          <a:prstGeom prst="roundRect">
            <a:avLst>
              <a:gd name="adj" fmla="val 372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36408" y="419709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836408" y="4526280"/>
            <a:ext cx="36941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PX8 (CGH1) và PX7 (CGH2) đạt 573.891,9 t, chiếm 31,6% sản lượng Công ty.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733"/>
                </a:solidFill>
              </a:rPr>
              <a:t>Thấp nhất: PX11 (80.879,4 t), PX9 (88.497,5 t).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185, cột G:Q (bảng tổng hợp theo PX; tiêu đề ghi "8 tháng" nhưng số là lũy kế 9 tháng, đã đối chiếu khớp tổng).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III. KẾT QUẢ THEO PHÂN XƯỞNG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xưởng khai thác: sản lượng lò chợ theo công nghệ, mét lò đào, mét lò xén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Lũy kế 9 tháng. Đơn vị: tấn, m.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1581912"/>
                <a:gridCol w="1325880"/>
                <a:gridCol w="1325880"/>
                <a:gridCol w="1325880"/>
                <a:gridCol w="1234440"/>
                <a:gridCol w="1097280"/>
                <a:gridCol w="1097280"/>
                <a:gridCol w="1143000"/>
                <a:gridCol w="11430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xưởng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NK (t)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chợ (t)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khung, xích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đào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xén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 (Than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102.096,5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89.481,8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86.412,1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3.069,7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994,8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PX2 (Than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124.812,2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117.331,3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116.142,7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1.188,5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PX3 (Than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104.814,8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89.376,1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82.283,4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7.092,7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972,6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PX4 (Than 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165.862,2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155.934,9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155.934,9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807,0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PX5 (Than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122.300,0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111.326,1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110.234,3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1.091,8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962,4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PX6 (Than 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146.543,2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140.093,6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138.821,8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1.271,8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367,5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PX7 (CGH2)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212.071,4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207.793,0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3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207.793,0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PX8 (CGH1)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361.820,6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357.021,9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3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357.021,9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PX9 (Than 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88.497,5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76.712,8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76.311,4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839,3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PX10 (Than 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146.446,8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133.185,2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131.544,9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1.640,3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832,0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PX11 (Than 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80.879,4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69.083,6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69.083,6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5AE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785,7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 11 PX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1.656.144,6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1.547.340,5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884.485,8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564.815,0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82.283,4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15.756,3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7.399,6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1.797,1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6" name="ghi-chu"/>
          <p:cNvSpPr/>
          <p:nvPr/>
        </p:nvSpPr>
        <p:spPr>
          <a:xfrm>
            <a:off x="457200" y="5596128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5961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A21A"/>
                </a:solidFill>
              </a:rPr>
              <a:t>Kiểm tra: </a:t>
            </a:r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</a:rPr>
              <a:t>Than lò chợ 11 PX = 1.547.340,5 t, khớp tổng than lò chợ Công ty (sheet TKV dòng 119). Mét lò đào của PX7, PX8 chủ yếu là lò chống neo (PX7: 113,7/122,4 m; PX8: 124,8/124,8 m).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144768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156, 175, 185, 188, 190–193, cột G:Q.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III. KẾT QUẢ THEO PHÂN XƯỞNG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phân xưởng đào lò: 8.291,5 m lò đào = 45,6% tổng mét lò đào Công ty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Lũy kế 9 tháng. Đơn vị: m, tấn.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54480"/>
          <a:ext cx="51480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60120"/>
                <a:gridCol w="941832"/>
                <a:gridCol w="91440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xưởng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đào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đá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xén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NK (t)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PX12 (CGĐB)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478,05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26.296,4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PX13 (BCG)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977,1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917,40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1.408,6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PX14 (ĐL3)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1.315,6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162,70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28.208,4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PX15 (ĐL1)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1.446,4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311,30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25.229,1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PX16 (ĐL5)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1.926,2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346,30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35.782,3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PX17 (ĐL6)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1.434,7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258,60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533,1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24.407,6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 6 PX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8.291,5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2.474,35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2.582,6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141.332,4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7" name="nhan-xet"/>
          <p:cNvSpPr/>
          <p:nvPr/>
        </p:nvSpPr>
        <p:spPr>
          <a:xfrm>
            <a:off x="6583680" y="4434840"/>
            <a:ext cx="5148072" cy="1600200"/>
          </a:xfrm>
          <a:prstGeom prst="roundRect">
            <a:avLst>
              <a:gd name="adj" fmla="val 457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84848" y="4562856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784848" y="4892040"/>
            <a:ext cx="47457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PX16 (ĐL5) cao nhất: 1.926,2 m lò đào; PX13 (BCG) chủ yếu đào lò đá (917,4 m).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733"/>
                </a:solidFill>
              </a:rPr>
              <a:t>PX12 (CGĐB) đạt 1.191,5 m, trong đó combai EBH-45 459,9 m.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156, 167, 175, 185, 205, cột R:W.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III. KẾT QUẢ THEO PHÂN XƯỞNG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Đơn vị thuê ngoài và đơn vị phụ trợ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Lũy kế 9 tháng. HL1, PTH, QN, VN là đơn vị thuê ngoài; KSKM, VT1, VT2 là đơn vị phụ trợ (than hạ nền).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43000"/>
                <a:gridCol w="1097280"/>
                <a:gridCol w="114300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vị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đào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đá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than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xén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NK (t)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(HL1)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2.249,3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1.890,3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10.559,6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859,3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4.215,0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1.053,8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KSKM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E6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2.511,3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2.007,7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771,0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17.135,8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7635240" y="1417320"/>
          <a:ext cx="4096512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nhan-xet"/>
          <p:cNvSpPr/>
          <p:nvPr/>
        </p:nvSpPr>
        <p:spPr>
          <a:xfrm>
            <a:off x="7635240" y="4572000"/>
            <a:ext cx="4096512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36408" y="47000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NHẬN XÉT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836408" y="5029200"/>
            <a:ext cx="3694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733"/>
                </a:solidFill>
              </a:rPr>
              <a:t>HL1 đào 2.249,3 m, trong đó lò đá 1.890,3 m – đơn vị thuê ngoài lớn nhất.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733"/>
                </a:solidFill>
              </a:rPr>
              <a:t>Kiểm tra: 7.399,6 + 8.291,5 + 2.511,3 = 18.202,4 m.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sheet TKV dòng 156, 167, 171, 175, 185, cột X:AD.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C2"/>
                </a:solidFill>
              </a:rPr>
              <a:t>PHẦN IV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TỒN TẠI, NGUYÊN NHÂN – NHIỆM VỤ, GIẢI PHÁP QUÝ IV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Những tồn tại thể hiện qua số liệu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Nguyên nhân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Khối lượng phải thực hiện quý IV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DD"/>
                </a:solidFill>
              </a:rPr>
              <a:t>Giải pháp, kiến nghị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IV. TỒN TẠI – NHIỆM VỤ, GIẢI PHÁP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Những tồn tại thể hiện qua số liệu</a:t>
            </a:r>
            <a:endParaRPr lang="en-US" sz="2400" dirty="0"/>
          </a:p>
        </p:txBody>
      </p:sp>
      <p:sp>
        <p:nvSpPr>
          <p:cNvPr id="4" name="ton-tai-1"/>
          <p:cNvSpPr/>
          <p:nvPr/>
        </p:nvSpPr>
        <p:spPr>
          <a:xfrm>
            <a:off x="457200" y="1417320"/>
            <a:ext cx="552297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36776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36192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6"/>
                </a:solidFill>
              </a:rPr>
              <a:t>Sản lượng, mét lò đào, mét lò xén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92808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</a:rPr>
              <a:t>Đạt 72,6% / 69,4% / 68,7% KH (QĐ 2675) – dưới tiến độ 75%</a:t>
            </a:r>
            <a:endParaRPr lang="en-US" sz="1250" dirty="0"/>
          </a:p>
        </p:txBody>
      </p:sp>
      <p:sp>
        <p:nvSpPr>
          <p:cNvPr id="9" name="ton-tai-2"/>
          <p:cNvSpPr/>
          <p:nvPr/>
        </p:nvSpPr>
        <p:spPr>
          <a:xfrm>
            <a:off x="6208776" y="1417320"/>
            <a:ext cx="552297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9944" y="1636776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23176" y="1536192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6"/>
                </a:solidFill>
              </a:rPr>
              <a:t>Sản lượng quý III giảm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23176" y="1892808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</a:rPr>
              <a:t>Quý III 554.613,3 t, giảm 82.975,1 t so với quý II</a:t>
            </a:r>
            <a:endParaRPr lang="en-US" sz="1250" dirty="0"/>
          </a:p>
        </p:txBody>
      </p:sp>
      <p:sp>
        <p:nvSpPr>
          <p:cNvPr id="14" name="ton-tai-3"/>
          <p:cNvSpPr/>
          <p:nvPr/>
        </p:nvSpPr>
        <p:spPr>
          <a:xfrm>
            <a:off x="457200" y="2569464"/>
            <a:ext cx="552297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7889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688336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6"/>
                </a:solidFill>
              </a:rPr>
              <a:t>Lò chợ CGH hạng nhẹ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044952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</a:rPr>
              <a:t>Không có sản lượng quý III; 9 tháng đạt 55,9% KH</a:t>
            </a:r>
            <a:endParaRPr lang="en-US" sz="1250" dirty="0"/>
          </a:p>
        </p:txBody>
      </p:sp>
      <p:sp>
        <p:nvSpPr>
          <p:cNvPr id="19" name="ton-tai-4"/>
          <p:cNvSpPr/>
          <p:nvPr/>
        </p:nvSpPr>
        <p:spPr>
          <a:xfrm>
            <a:off x="6208776" y="2569464"/>
            <a:ext cx="552297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27889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9944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23176" y="2688336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6"/>
                </a:solidFill>
              </a:rPr>
              <a:t>Lò chợ giàn mềm (ZRY)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23176" y="3044952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</a:rPr>
              <a:t>Đạt 49,3% KH; quý III 16.829,6 t (quý I: 39.665,9 t)</a:t>
            </a:r>
            <a:endParaRPr lang="en-US" sz="1250" dirty="0"/>
          </a:p>
        </p:txBody>
      </p:sp>
      <p:sp>
        <p:nvSpPr>
          <p:cNvPr id="24" name="ton-tai-5"/>
          <p:cNvSpPr/>
          <p:nvPr/>
        </p:nvSpPr>
        <p:spPr>
          <a:xfrm>
            <a:off x="457200" y="3721608"/>
            <a:ext cx="552297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941064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3941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3840480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6"/>
                </a:solidFill>
              </a:rPr>
              <a:t>Combai EBH-45, chống neo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197096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</a:rPr>
              <a:t>EBH-45 đạt 38,3%, dừng từ tháng 6; chống neo quý III 5,6 m</a:t>
            </a:r>
            <a:endParaRPr lang="en-US" sz="1250" dirty="0"/>
          </a:p>
        </p:txBody>
      </p:sp>
      <p:sp>
        <p:nvSpPr>
          <p:cNvPr id="29" name="ton-tai-6"/>
          <p:cNvSpPr/>
          <p:nvPr/>
        </p:nvSpPr>
        <p:spPr>
          <a:xfrm>
            <a:off x="6208776" y="3721608"/>
            <a:ext cx="552297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9944" y="3941064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9944" y="3941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23176" y="3840480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6"/>
                </a:solidFill>
              </a:rPr>
              <a:t>Mét lò xén trong than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23176" y="4197096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</a:rPr>
              <a:t>Đạt 50,5% KH (xén trong đá 84,1%)</a:t>
            </a:r>
            <a:endParaRPr lang="en-US" sz="1250" dirty="0"/>
          </a:p>
        </p:txBody>
      </p:sp>
      <p:sp>
        <p:nvSpPr>
          <p:cNvPr id="34" name="ton-tai-7"/>
          <p:cNvSpPr/>
          <p:nvPr/>
        </p:nvSpPr>
        <p:spPr>
          <a:xfrm>
            <a:off x="457200" y="4873752"/>
            <a:ext cx="552297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" y="5093208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4992624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6"/>
                </a:solidFill>
              </a:rPr>
              <a:t>Chất lượng than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5349240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</a:rPr>
              <a:t>Độ tro 38,1%, vượt KH 1,6 điểm %</a:t>
            </a:r>
            <a:endParaRPr lang="en-US" sz="1250" dirty="0"/>
          </a:p>
        </p:txBody>
      </p:sp>
      <p:sp>
        <p:nvSpPr>
          <p:cNvPr id="39" name="ton-tai-8"/>
          <p:cNvSpPr/>
          <p:nvPr/>
        </p:nvSpPr>
        <p:spPr>
          <a:xfrm>
            <a:off x="6208776" y="4873752"/>
            <a:ext cx="552297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9944" y="5093208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9944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123176" y="4992624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6"/>
                </a:solidFill>
              </a:rPr>
              <a:t>Gia cố đường lò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123176" y="5349240"/>
            <a:ext cx="4425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</a:rPr>
              <a:t>Ép vữa 46,8%, ép hóa chất 3,3%, đổ bê tông chưa thực hiện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tổng hợp từ các slide 5–22.</a:t>
            </a:r>
            <a:endParaRPr lang="en-US" sz="950" dirty="0"/>
          </a:p>
        </p:txBody>
      </p:sp>
      <p:sp>
        <p:nvSpPr>
          <p:cNvPr id="45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IV. TỒN TẠI – NHIỆM VỤ, GIẢI PHÁP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Nguyên nhân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Phòng KCM bổ sung nguyên nhân cụ thể – file số liệu KLM không có thông tin nguyên nhân nên chưa điền.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743407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Tồn tại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Nguyên nhân (khách quan / chủ quan)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Sản lượng, mét lò đào, mét lò xén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9AA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[Bổ sung: điều kiện địa chất, chuẩn bị diện, chuyển diện, thiết bị, lao động…]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Sản lượng quý III giảm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9AA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[Bổ sung: điều kiện địa chất, chuẩn bị diện, chuyển diện, thiết bị, lao động…]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chợ CGH hạng nhẹ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9AA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[Bổ sung: điều kiện địa chất, chuẩn bị diện, chuyển diện, thiết bị, lao động…]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Lò chợ giàn mềm (ZRY)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9AA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[Bổ sung: điều kiện địa chất, chuẩn bị diện, chuyển diện, thiết bị, lao động…]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Combai EBH-45, chống neo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9AA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[Bổ sung: điều kiện địa chất, chuẩn bị diện, chuyển diện, thiết bị, lao động…]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 lò xén trong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9AA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[Bổ sung: điều kiện địa chất, chuẩn bị diện, chuyển diện, thiết bị, lao động…]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Chất lượng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9AA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[Bổ sung: điều kiện địa chất, chuẩn bị diện, chuyển diện, thiết bị, lao động…]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 cố đường lò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9AA3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[Bổ sung: điều kiện địa chất, chuẩn bị diện, chuyển diện, thiết bị, lao động…]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10819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nội dung nguyên nhân do Phòng KCM và các phân xưởng cung cấp.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IV. TỒN TẠI – NHIỆM VỤ, GIẢI PHÁP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Quý IV/2026: bình quân tháng phải tăng 13,3% sản lượng, 32,3% mét lò đào</a:t>
            </a:r>
            <a:endParaRPr lang="en-US" sz="2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i="1" dirty="0">
                <a:solidFill>
                  <a:srgbClr val="5E6A75"/>
                </a:solidFill>
              </a:rPr>
              <a:t>Còn lại = KH năm − TH 9 tháng; BQ tháng quý IV = còn lại ÷ 3; BQ đã đạt = TH 9 tháng ÷ 9. Mức tăng so với BQ đã đạt (theo QĐ 2675).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874520"/>
                <a:gridCol w="1691640"/>
                <a:gridCol w="1874520"/>
                <a:gridCol w="1691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tiêu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Còn lại (QĐ 2675)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BQ/tháng Q.IV (2675)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Còn lại (3374)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BQ/tháng Q.IV (3374)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 đã đạt 9T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 NK hầm lò (tấn)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685.387,2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228.462,4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735.387,2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245.129,1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201.623,6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 lò đào CBSX (m)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8.027,6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2.675,9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7.527,6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2.509,2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2.022,5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 lò xén (m)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2.349,3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783,1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1.974,3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658,1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572,3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365760" y="3063240"/>
          <a:ext cx="3657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270248" y="3063240"/>
          <a:ext cx="3657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8165592" y="3063240"/>
          <a:ext cx="3657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3"/>
          <p:cNvSpPr txBox="1"/>
          <p:nvPr/>
        </p:nvSpPr>
        <p:spPr>
          <a:xfrm>
            <a:off x="457200" y="6144768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848E"/>
                </a:solidFill>
              </a:rPr>
              <a:t>Nguồn: tính từ TH 9 tháng (sheet TKV dòng 85, 104, 114) và KH năm (sheet PHU_LUC cột E, F).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21A"/>
                </a:solidFill>
              </a:rPr>
              <a:t>IV. TỒN TẠI – NHIỆM VỤ, GIẢI PHÁP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Nhiệm vụ, giải pháp trọng tâm quý IV năm 2026</a:t>
            </a:r>
            <a:endParaRPr lang="en-US" sz="2400" dirty="0"/>
          </a:p>
        </p:txBody>
      </p:sp>
      <p:sp>
        <p:nvSpPr>
          <p:cNvPr id="4" name="giai-phap-0"/>
          <p:cNvSpPr/>
          <p:nvPr/>
        </p:nvSpPr>
        <p:spPr>
          <a:xfrm>
            <a:off x="457200" y="14173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73352"/>
            <a:ext cx="603504" cy="603504"/>
          </a:xfrm>
          <a:prstGeom prst="ellipse">
            <a:avLst/>
          </a:prstGeom>
          <a:solidFill>
            <a:srgbClr val="1F3A56"/>
          </a:solidFill>
          <a:ln w="12700">
            <a:solidFill>
              <a:srgbClr val="1F3A5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96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7335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6"/>
                </a:solidFill>
              </a:rPr>
              <a:t>KHAI THÁC THAN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468880"/>
            <a:ext cx="309981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Tập trung điều hành lò chợ CGH, giá khung – giá xích (79,9% sản lượng Công ty); giảm thời gian dừng thiết bị.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Đẩy nhanh chuẩn bị, lắp đặt diện thay thế, không để gián đoạn sản lượng khi chuyển diện.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Xem xét khôi phục sản xuất lò chợ CGH hạng nhẹ; nâng sản lượng lò chợ giàn mềm (PX3).</a:t>
            </a:r>
            <a:endParaRPr lang="en-US" sz="1500" dirty="0"/>
          </a:p>
        </p:txBody>
      </p:sp>
      <p:sp>
        <p:nvSpPr>
          <p:cNvPr id="9" name="giai-phap-1"/>
          <p:cNvSpPr/>
          <p:nvPr/>
        </p:nvSpPr>
        <p:spPr>
          <a:xfrm>
            <a:off x="4288536" y="14173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673352"/>
            <a:ext cx="603504" cy="603504"/>
          </a:xfrm>
          <a:prstGeom prst="ellipse">
            <a:avLst/>
          </a:prstGeom>
          <a:solidFill>
            <a:srgbClr val="1F3A56"/>
          </a:solidFill>
          <a:ln w="12700">
            <a:solidFill>
              <a:srgbClr val="1F3A5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8196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76088" y="167335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6"/>
                </a:solidFill>
              </a:rPr>
              <a:t>ĐÀO LÒ, XÉN LÒ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44568" y="2468880"/>
            <a:ext cx="309981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Duy trì tốc độ đào lò tháng 9 (2.459,9 m); quý IV cần 2.675,9 m/tháng.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Ưu tiên các đường lò chuẩn bị diện khai thác năm 2027.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Đưa combai EBH-45 trở lại hoạt động khi đủ điều kiện; tăng đào lò chống neo; đẩy mạnh xén lò trong than.</a:t>
            </a:r>
            <a:endParaRPr lang="en-US" sz="1500" dirty="0"/>
          </a:p>
        </p:txBody>
      </p:sp>
      <p:sp>
        <p:nvSpPr>
          <p:cNvPr id="14" name="giai-phap-2"/>
          <p:cNvSpPr/>
          <p:nvPr/>
        </p:nvSpPr>
        <p:spPr>
          <a:xfrm>
            <a:off x="8119872" y="14173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1673352"/>
            <a:ext cx="603504" cy="603504"/>
          </a:xfrm>
          <a:prstGeom prst="ellipse">
            <a:avLst/>
          </a:prstGeom>
          <a:solidFill>
            <a:srgbClr val="1F3A56"/>
          </a:solidFill>
          <a:ln w="12700">
            <a:solidFill>
              <a:srgbClr val="1F3A5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8196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07424" y="167335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6"/>
                </a:solidFill>
              </a:rPr>
              <a:t>KỸ THUẬT, CHẤT LƯỢNG, ĐIỀU HÀNH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75904" y="2468880"/>
            <a:ext cx="309981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Khai thác chọn lọc, hạn chế lẫn đất đá vách, trụ để đưa độ tro về 36,5%.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Thực hiện các hạng mục gia cố còn chậm (ép vữa, ép hóa chất, đổ bê tông) theo PA 5342/TKCM-KCM.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Giao KH quý IV chi tiết đến từng phân xưởng; theo dõi, đánh giá hàng tuần.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58978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C"/>
                </a:solidFill>
              </a:rPr>
              <a:t>[Phòng KCM rà soát, bổ sung giải pháp cụ thể theo từng phân xưởng, diện khai thác.]</a:t>
            </a:r>
            <a:endParaRPr lang="en-US" sz="1200" dirty="0"/>
          </a:p>
        </p:txBody>
      </p:sp>
      <p:sp>
        <p:nvSpPr>
          <p:cNvPr id="20" name="Text 1"/>
          <p:cNvSpPr/>
          <p:nvPr>
            <p:ph idx="103" type="body" hasCustomPrompt="1"/>
          </p:nvPr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F3A5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NGHỊ</a:t>
            </a:r>
            <a:endParaRPr lang="en-US" sz="3000" dirty="0"/>
          </a:p>
        </p:txBody>
      </p:sp>
      <p:sp>
        <p:nvSpPr>
          <p:cNvPr id="3" name="kien-nghi-0"/>
          <p:cNvSpPr/>
          <p:nvPr/>
        </p:nvSpPr>
        <p:spPr>
          <a:xfrm>
            <a:off x="640080" y="146304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22303F"/>
          </a:solidFill>
          <a:ln w="9525">
            <a:solidFill>
              <a:srgbClr val="2E3E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Với Giám đốc Công 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FB0C2"/>
                </a:solidFill>
              </a:rPr>
              <a:t>[Kiến nghị với Giám đốc Công ty – Phòng KCM bổ sung]</a:t>
            </a:r>
            <a:endParaRPr lang="en-US" sz="1400" dirty="0"/>
          </a:p>
        </p:txBody>
      </p:sp>
      <p:sp>
        <p:nvSpPr>
          <p:cNvPr id="6" name="kien-nghi-1"/>
          <p:cNvSpPr/>
          <p:nvPr/>
        </p:nvSpPr>
        <p:spPr>
          <a:xfrm>
            <a:off x="6172200" y="146304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22303F"/>
          </a:solidFill>
          <a:ln w="9525">
            <a:solidFill>
              <a:srgbClr val="2E3E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Với Tập đoàn TKV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FB0C2"/>
                </a:solidFill>
              </a:rPr>
              <a:t>[Kiến nghị với Tập đoàn TKV (nếu có)]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14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TRÂN TRỌNG CẢM ƠN!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D"/>
                </a:solidFill>
              </a:rPr>
              <a:t>Phòng Kỹ thuật công nghệ mỏ – Công ty than Dương Huy - TKV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ong Huy KCM">
  <a:themeElements>
    <a:clrScheme name="Duong Huy KCM">
      <a:dk1>
        <a:srgbClr val="1D2733"/>
      </a:dk1>
      <a:lt1>
        <a:srgbClr val="FFFFFF"/>
      </a:lt1>
      <a:dk2>
        <a:srgbClr val="1F3A56"/>
      </a:dk2>
      <a:lt2>
        <a:srgbClr val="F1F4F7"/>
      </a:lt2>
      <a:accent1>
        <a:srgbClr val="1F3A56"/>
      </a:accent1>
      <a:accent2>
        <a:srgbClr val="E3A21A"/>
      </a:accent2>
      <a:accent3>
        <a:srgbClr val="7FA3C4"/>
      </a:accent3>
      <a:accent4>
        <a:srgbClr val="5E6A75"/>
      </a:accent4>
      <a:accent5>
        <a:srgbClr val="C0392B"/>
      </a:accent5>
      <a:accent6>
        <a:srgbClr val="1E8449"/>
      </a:accent6>
      <a:hlink>
        <a:srgbClr val="1F3A56"/>
      </a:hlink>
      <a:folHlink>
        <a:srgbClr val="5E6A75"/>
      </a:folHlink>
    </a:clrScheme>
    <a:fontScheme name="Duong Huy KC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Công ty than Dương Huy - TKV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kết quả thực hiện kế hoạch sản xuất 9 tháng năm 2026</dc:title>
  <dc:subject>PptxGenJS Presentation</dc:subject>
  <dc:creator>Nguyễn Văn Thúy – Phòng KCM</dc:creator>
  <cp:lastModifiedBy>Nguyễn Văn Thúy – Phòng KCM</cp:lastModifiedBy>
  <cp:revision>1</cp:revision>
  <dcterms:created xsi:type="dcterms:W3CDTF">2026-10-24T09:40:16Z</dcterms:created>
  <dcterms:modified xsi:type="dcterms:W3CDTF">2026-10-24T09:40:16Z</dcterms:modified>
</cp:coreProperties>
</file>